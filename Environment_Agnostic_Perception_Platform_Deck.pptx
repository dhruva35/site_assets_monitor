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347472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ARCHITECTURE EVOLUTION &amp; PLATFORM MODIFICATIONS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Environment-Agnostic Perception Platform</a:t>
            </a:r>
          </a:p>
          <a:p>
            <a:pPr>
              <a:spcBef>
                <a:spcPts val="600"/>
              </a:spcBef>
              <a:defRPr sz="1600">
                <a:solidFill>
                  <a:srgbClr val="94A3B8"/>
                </a:solidFill>
                <a:latin typeface="Segoe UI"/>
              </a:defRPr>
            </a:pPr>
            <a:r>
              <a:t>Standardized Core Perception Engine, Human-in-the-Loop Bootstrap &amp; Autonomous Edge Auditing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This presentation details the architectural refactoring of the SITE Assets Monitor system. We have transitioned the perception stack from an environment-dependent prototype into a modular, configuration-driven base platform capable of rapid multi-client deployment with zero core code changes, seamless Human-in-the-Loop onboarding, and optimized CPU execution on mobile ground robots.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9160"/>
            <a:ext cx="3328416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2962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CORE ARCHITECTURE</a:t>
            </a:r>
          </a:p>
          <a:p>
            <a:pPr>
              <a:spcBef>
                <a:spcPts val="3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3-Tier Layered Framework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Frozen Engine + Profile +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709160"/>
            <a:ext cx="3328416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4800600"/>
            <a:ext cx="2962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HARDWARE BOUNDARY</a:t>
            </a:r>
          </a:p>
          <a:p>
            <a:pPr>
              <a:spcBef>
                <a:spcPts val="3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Raspberry Pi 5 (CPU)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Zero Onboard Training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709160"/>
            <a:ext cx="3328416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4800600"/>
            <a:ext cx="2962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DEPLOYMENT VELOCITY</a:t>
            </a:r>
          </a:p>
          <a:p>
            <a:pPr>
              <a:spcBef>
                <a:spcPts val="3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&lt; 1 Day Calibration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Zero Per-Client Code Rewrites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SITE Assets Monitor | Environment-Agnostic Perception Platform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STRATEGIC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Why Evolve from a Prototype to a Scalable Platform?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Moving from brittle, site-specific code to an industrial base engine designed for fleet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011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62686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Segoe UI"/>
              </a:defRPr>
            </a:pPr>
            <a:r>
              <a:t>BEFORE: Site-Specific Prototype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Tightly coupled to a single environment and fixed taxonomy.</a:t>
            </a:r>
          </a:p>
          <a:p>
            <a:pPr>
              <a:spcBef>
                <a:spcPts val="600"/>
              </a:spcBef>
              <a:defRPr sz="1150" b="1">
                <a:solidFill>
                  <a:srgbClr val="1E293B"/>
                </a:solidFill>
                <a:latin typeface="Segoe UI"/>
              </a:defRPr>
            </a:pPr>
            <a:r>
              <a:t>•  Hardcoded Rules &amp; Classes: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   Model classes, camera settings, and thresholds were hardcoded in Python files.</a:t>
            </a:r>
          </a:p>
          <a:p>
            <a:pPr>
              <a:spcBef>
                <a:spcPts val="600"/>
              </a:spcBef>
              <a:defRPr sz="1150" b="1">
                <a:solidFill>
                  <a:srgbClr val="1E293B"/>
                </a:solidFill>
                <a:latin typeface="Segoe UI"/>
              </a:defRPr>
            </a:pPr>
            <a:r>
              <a:t>•  Expensive Per-Client Engineering: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   Deploying to a second client (e.g. port or warehouse) required branching code and rewriting logic.</a:t>
            </a:r>
          </a:p>
          <a:p>
            <a:pPr>
              <a:spcBef>
                <a:spcPts val="600"/>
              </a:spcBef>
              <a:defRPr sz="1150" b="1">
                <a:solidFill>
                  <a:srgbClr val="1E293B"/>
                </a:solidFill>
                <a:latin typeface="Segoe UI"/>
              </a:defRPr>
            </a:pPr>
            <a:r>
              <a:t>•  No Adaptation Mechanism: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   If lighting shifted or new machinery arrived, the system had no structured way to learn or adjust.</a:t>
            </a:r>
          </a:p>
          <a:p>
            <a:pPr>
              <a:spcBef>
                <a:spcPts val="600"/>
              </a:spcBef>
              <a:defRPr sz="1150" b="1">
                <a:solidFill>
                  <a:srgbClr val="1E293B"/>
                </a:solidFill>
                <a:latin typeface="Segoe UI"/>
              </a:defRPr>
            </a:pPr>
            <a:r>
              <a:t>•  High Maintenance Overhead: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   Bug fixes in one deployment could not be easily pushed to other client sites without merging conflicts.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7104" y="2011680"/>
            <a:ext cx="1097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48840"/>
            <a:ext cx="462686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4C78"/>
                </a:solidFill>
                <a:latin typeface="Segoe UI"/>
              </a:defRPr>
            </a:pPr>
            <a:r>
              <a:t>NOW: Environment-Agnostic Platform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Modular, profile-driven engine deployable anywhere in hours.</a:t>
            </a:r>
          </a:p>
          <a:p>
            <a:pPr>
              <a:spcBef>
                <a:spcPts val="600"/>
              </a:spcBef>
              <a:defRPr sz="1150" b="1">
                <a:solidFill>
                  <a:srgbClr val="184C78"/>
                </a:solidFill>
                <a:latin typeface="Segoe UI"/>
              </a:defRPr>
            </a:pPr>
            <a:r>
              <a:t>✔  Zero Code Changes per Site:</a:t>
            </a:r>
          </a:p>
          <a:p>
            <a:pPr>
              <a:spcBef>
                <a:spcPts val="1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   100% of site-specific behavior is configured in clean YAML profiles.</a:t>
            </a:r>
          </a:p>
          <a:p>
            <a:pPr>
              <a:spcBef>
                <a:spcPts val="600"/>
              </a:spcBef>
              <a:defRPr sz="1150" b="1">
                <a:solidFill>
                  <a:srgbClr val="184C78"/>
                </a:solidFill>
                <a:latin typeface="Segoe UI"/>
              </a:defRPr>
            </a:pPr>
            <a:r>
              <a:t>✔  Unified Core Engine:</a:t>
            </a:r>
          </a:p>
          <a:p>
            <a:pPr>
              <a:spcBef>
                <a:spcPts val="1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   Base perception algorithms (quality filtering, detection, ReID, spatial tracking) remain standard and frozen.</a:t>
            </a:r>
          </a:p>
          <a:p>
            <a:pPr>
              <a:spcBef>
                <a:spcPts val="600"/>
              </a:spcBef>
              <a:defRPr sz="1150" b="1">
                <a:solidFill>
                  <a:srgbClr val="184C78"/>
                </a:solidFill>
                <a:latin typeface="Segoe UI"/>
              </a:defRPr>
            </a:pPr>
            <a:r>
              <a:t>✔  Rapid HITL Calibration:</a:t>
            </a:r>
          </a:p>
          <a:p>
            <a:pPr>
              <a:spcBef>
                <a:spcPts val="1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   Built-in Human-in-the-Loop workflow collects on-site data Day 1 and bootstraps autonomous tracking.</a:t>
            </a:r>
          </a:p>
          <a:p>
            <a:pPr>
              <a:spcBef>
                <a:spcPts val="600"/>
              </a:spcBef>
              <a:defRPr sz="1150" b="1">
                <a:solidFill>
                  <a:srgbClr val="184C78"/>
                </a:solidFill>
                <a:latin typeface="Segoe UI"/>
              </a:defRPr>
            </a:pPr>
            <a:r>
              <a:t>✔  Continuous Fleet Updates:</a:t>
            </a:r>
          </a:p>
          <a:p>
            <a:pPr>
              <a:spcBef>
                <a:spcPts val="1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   Core algorithmic enhancements can be deployed universally to all client robots with zero site breakage.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Environment-Agnostic Perception Platform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The 3-Tier Layered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Strict separation between standard vision algorithms, site parameters, and use-case rules.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TIER 1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Segoe UI"/>
              </a:defRPr>
            </a:pPr>
            <a:r>
              <a:t>Standard Base Engine</a:t>
            </a:r>
          </a:p>
          <a:p>
            <a:pPr>
              <a:spcBef>
                <a:spcPts val="300"/>
              </a:spcBef>
              <a:defRPr sz="950" b="1">
                <a:solidFill>
                  <a:srgbClr val="184C78"/>
                </a:solidFill>
                <a:latin typeface="Segoe UI"/>
              </a:defRPr>
            </a:pPr>
            <a:r>
              <a:t>Status: 100% Reusable (Frozen)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The core algorithmic perception foundation. Identical on every robot and client site.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  <a:latin typeface="Segoe UI"/>
              </a:defRPr>
            </a:pPr>
            <a:r>
              <a:t>CORE MODULES &amp; DUTIES: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Image Quality Checker (Rejects motion blur &amp; bad lighting)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YOLOv8 Neural Detector (ONNX Edge Inference)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OSNet Deep Visual Re-ID (512D spatial embeddings)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Reference Store (Cosine similarity &amp; multi-view centroids)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Forensic Evidence Generator (Raw frames + annotated crops + JSON metadata)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6596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TIER 2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Segoe UI"/>
              </a:defRPr>
            </a:pPr>
            <a:r>
              <a:t>Deployment Profiles</a:t>
            </a:r>
          </a:p>
          <a:p>
            <a:pPr>
              <a:spcBef>
                <a:spcPts val="3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Status: Config Only (YAML)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Site-specific settings injected at startup. Enables new client setup in under an hour.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  <a:latin typeface="Segoe UI"/>
              </a:defRPr>
            </a:pPr>
            <a:r>
              <a:t>CORE MODULES &amp; DUTIES: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Hardware Mapping (Camera resolution, FPS, ROS2 topics)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Site Asset Taxonomy (Target machinery classes &amp; priorities)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Quality Gate Thresholds (Tolerances for outdoor vs indoor light)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Model Weights Pointer (Path to site-calibrated ONNX model)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Storage Paths (Evidence directories and retention policies)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73736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6596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TIER 3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Segoe UI"/>
              </a:defRPr>
            </a:pPr>
            <a:r>
              <a:t>Use-Case Rules Layer</a:t>
            </a:r>
          </a:p>
          <a:p>
            <a:pPr>
              <a:spcBef>
                <a:spcPts val="3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Status: Client Business Logic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High-level rules that translate raw perception states into operational security actions.</a:t>
            </a:r>
          </a:p>
          <a:p>
            <a:pPr>
              <a:spcBef>
                <a:spcPts val="400"/>
              </a:spcBef>
              <a:defRPr sz="1000" b="1">
                <a:solidFill>
                  <a:srgbClr val="1E293B"/>
                </a:solidFill>
                <a:latin typeface="Segoe UI"/>
              </a:defRPr>
            </a:pPr>
            <a:r>
              <a:t>CORE MODULES &amp; DUTIES: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Movement Geofencing (e.g. 3-meter displacement violation)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Missing Equipment Alerting (Temporal hysteresis buffer)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Shift Audit Generator (Shift-end asset compliance report)</a:t>
            </a:r>
          </a:p>
          <a:p>
            <a:pPr>
              <a:spcBef>
                <a:spcPts val="4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• ROS2 / Webhook Event Dispatcher (Security operator alerts)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Environment-Agnostic Perception Platform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OPERATIONAL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The 5-Phase Deployment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Step-by-step path from unboxing the robot on Day 1 to fully autonomous 24/7 site auditing.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0299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7556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PHASE 0</a:t>
            </a:r>
          </a:p>
          <a:p>
            <a:pPr>
              <a:spcBef>
                <a:spcPts val="200"/>
              </a:spcBef>
              <a:defRPr sz="1400" b="1">
                <a:solidFill>
                  <a:srgbClr val="1E293B"/>
                </a:solidFill>
                <a:latin typeface="Segoe UI"/>
              </a:defRPr>
            </a:pPr>
            <a:r>
              <a:t>Pre-Deployment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~1-2 Hours (Engineering)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Clone base software repo on robot.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Create 'profiles/client.yaml' from template.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Configure camera, ROS2 topics, &amp; FPS.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Zero algorithmic code modification.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737360"/>
            <a:ext cx="20299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920240"/>
            <a:ext cx="17556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PHASE 1</a:t>
            </a:r>
          </a:p>
          <a:p>
            <a:pPr>
              <a:spcBef>
                <a:spcPts val="200"/>
              </a:spcBef>
              <a:defRPr sz="1400" b="1">
                <a:solidFill>
                  <a:srgbClr val="1E293B"/>
                </a:solidFill>
                <a:latin typeface="Segoe UI"/>
              </a:defRPr>
            </a:pPr>
            <a:r>
              <a:t>HITL Bootstrap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Day 1 (2-4 Hours On-Site)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Robot patrols site guided by operator.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Camera captures equipment crops.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Operator confirms/names assets on tablet.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Builds initial Re-ID visual fingerprints.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737360"/>
            <a:ext cx="2029968" cy="44805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1920240"/>
            <a:ext cx="17556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PHASE 2</a:t>
            </a:r>
          </a:p>
          <a:p>
            <a:pPr>
              <a:spcBef>
                <a:spcPts val="200"/>
              </a:spcBef>
              <a:defRPr sz="1400" b="1">
                <a:solidFill>
                  <a:srgbClr val="1E293B"/>
                </a:solidFill>
                <a:latin typeface="Segoe UI"/>
              </a:defRPr>
            </a:pPr>
            <a:r>
              <a:t>Offline Tuning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~30 Min (Laptop / Cloud)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Transfer Day 1 photos to engineer's laptop.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Run transfer learning fine-tuning on GPU.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Export single lightweight ONNX model file.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Copy ONNX to Pi 5 &amp; point YAML to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737360"/>
            <a:ext cx="20299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1920240"/>
            <a:ext cx="17556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PHASE 3</a:t>
            </a:r>
          </a:p>
          <a:p>
            <a:pPr>
              <a:spcBef>
                <a:spcPts val="200"/>
              </a:spcBef>
              <a:defRPr sz="1400" b="1">
                <a:solidFill>
                  <a:srgbClr val="1E293B"/>
                </a:solidFill>
                <a:latin typeface="Segoe UI"/>
              </a:defRPr>
            </a:pPr>
            <a:r>
              <a:t>Autonomous Ops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Day 2 Onwards (24/7)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Robot audits assets completely marker-free.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Real-time 3-5 FPS inspection on Pi 5 CPU.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Evaluates location, movement, &amp; status.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Auto-generates legal-grade evidence packages.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737360"/>
            <a:ext cx="20299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1920240"/>
            <a:ext cx="17556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PHASE 4</a:t>
            </a:r>
          </a:p>
          <a:p>
            <a:pPr>
              <a:spcBef>
                <a:spcPts val="200"/>
              </a:spcBef>
              <a:defRPr sz="1400" b="1">
                <a:solidFill>
                  <a:srgbClr val="1E293B"/>
                </a:solidFill>
                <a:latin typeface="Segoe UI"/>
              </a:defRPr>
            </a:pPr>
            <a:r>
              <a:t>Gradual Handoff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Weeks 1 to 4 (The HITL Dial)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Week 1: ~50% human review (new assets).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Week 2: ~20% review as library expands.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Week 4+: &lt;5% review (rare anomalies only).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Near-zero routine human supervision.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Environment-Agnostic Perception Platform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COMPUTE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Edge Execution vs Offline Fine-Tuning Clarified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How we achieve high accuracy on low-cost robot hardware without expensive onboard GPUs.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011680"/>
            <a:ext cx="109728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62686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Segoe UI"/>
              </a:defRPr>
            </a:pPr>
            <a:r>
              <a:t>ON THE ROBOT: Raspberry Pi 5 (Edge CPU)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Dedicated solely to live inference and evidence logging.</a:t>
            </a:r>
          </a:p>
          <a:p>
            <a:pPr>
              <a:spcBef>
                <a:spcPts val="5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✔  Inference Only (No Onboard Training):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   The Pi 5 has no NVIDIA CUDA GPU. Training on a Pi 5 would overheat, freeze RAM, and take days. It only *runs* pre-optimized models.</a:t>
            </a:r>
          </a:p>
          <a:p>
            <a:pPr>
              <a:spcBef>
                <a:spcPts val="5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✔  Fast ONNX CPU Runtime: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   Executes pre-compiled ONNX models at ~250-350ms per inspection cycle, delivering an optimal 3-5 FPS for slow-moving ground AMRs.</a:t>
            </a:r>
          </a:p>
          <a:p>
            <a:pPr>
              <a:spcBef>
                <a:spcPts val="5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✔  Low Power &amp; Cost: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   Operates under 15 Watts without draining robot patrol battery life or requiring costly $2,000+ industrial GPU computers.</a:t>
            </a:r>
          </a:p>
          <a:p>
            <a:pPr>
              <a:spcBef>
                <a:spcPts val="5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✔  Day 1 Data Collector: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   During Phase 1, the Pi 5 acts as a high-fidelity image recorder, capturing real-world crops for offline 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7104" y="2011680"/>
            <a:ext cx="1097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48840"/>
            <a:ext cx="462686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  <a:latin typeface="Segoe UI"/>
              </a:defRPr>
            </a:pPr>
            <a:r>
              <a:t>OFFLINE: Laptop / Cloud GPU (Fine-Tuning)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The 30-minute transfer learning step on an engineer's GPU.</a:t>
            </a:r>
          </a:p>
          <a:p>
            <a:pPr>
              <a:spcBef>
                <a:spcPts val="5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⚡  Where Training Happens: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   Executed on an engineer's laptop with an NVIDIA RTX GPU or a free cloud notebook (Google Colab).</a:t>
            </a:r>
          </a:p>
          <a:p>
            <a:pPr>
              <a:spcBef>
                <a:spcPts val="5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⚡  Transfer Learning Speed: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   Base model weights are kept frozen; only the final classification layer is adapted. Takes only 20-30 minutes for 200-500 images.</a:t>
            </a:r>
          </a:p>
          <a:p>
            <a:pPr>
              <a:spcBef>
                <a:spcPts val="5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⚡  One-Step ONNX Export: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   A single command converts the trained model into a portable '.onnx' binary (~12MB), optimized for CPU math.</a:t>
            </a:r>
          </a:p>
          <a:p>
            <a:pPr>
              <a:spcBef>
                <a:spcPts val="5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⚡  1-Minute File Drop Deployment: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   Copy the '.onnx' file to the robot via Wi-Fi or USB drive, update 1 line in 'detection_config.yaml', and restart. Zero code edits.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Environment-Agnostic Perception Platform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LIVE RUNTIME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Live Inference Pipeline &amp; 4-Tier Identity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How each camera frame is evaluated in real time to guarantee accuracy and eliminate false alarms.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626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Frame Processing Pipeline (Every 200-300ms)</a:t>
            </a:r>
          </a:p>
          <a:p>
            <a:pPr>
              <a:spcBef>
                <a:spcPts val="4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▶  1. Quality Gate</a:t>
            </a:r>
          </a:p>
          <a:p>
            <a:pPr>
              <a:spcBef>
                <a:spcPts val="100"/>
              </a:spcBef>
              <a:defRPr sz="980">
                <a:solidFill>
                  <a:srgbClr val="64748B"/>
                </a:solidFill>
                <a:latin typeface="Segoe UI"/>
              </a:defRPr>
            </a:pPr>
            <a:r>
              <a:t>    Rejects blurry, overexposed, or pitch-black frames in ~2ms before deep models run.</a:t>
            </a:r>
          </a:p>
          <a:p>
            <a:pPr>
              <a:spcBef>
                <a:spcPts val="4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▶  2. YOLOv8 Detection</a:t>
            </a:r>
          </a:p>
          <a:p>
            <a:pPr>
              <a:spcBef>
                <a:spcPts val="100"/>
              </a:spcBef>
              <a:defRPr sz="980">
                <a:solidFill>
                  <a:srgbClr val="64748B"/>
                </a:solidFill>
                <a:latin typeface="Segoe UI"/>
              </a:defRPr>
            </a:pPr>
            <a:r>
              <a:t>    Detects machinery bboxes and initial class categories in ~150-180ms.</a:t>
            </a:r>
          </a:p>
          <a:p>
            <a:pPr>
              <a:spcBef>
                <a:spcPts val="4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▶  3. Deep Re-ID Fingerprint</a:t>
            </a:r>
          </a:p>
          <a:p>
            <a:pPr>
              <a:spcBef>
                <a:spcPts val="100"/>
              </a:spcBef>
              <a:defRPr sz="980">
                <a:solidFill>
                  <a:srgbClr val="64748B"/>
                </a:solidFill>
                <a:latin typeface="Segoe UI"/>
              </a:defRPr>
            </a:pPr>
            <a:r>
              <a:t>    OSNet extracts a 512-dimensional visual embedding vector from valid crops (~60ms).</a:t>
            </a:r>
          </a:p>
          <a:p>
            <a:pPr>
              <a:spcBef>
                <a:spcPts val="4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▶  4. Spatial Reference Match</a:t>
            </a:r>
          </a:p>
          <a:p>
            <a:pPr>
              <a:spcBef>
                <a:spcPts val="100"/>
              </a:spcBef>
              <a:defRPr sz="980">
                <a:solidFill>
                  <a:srgbClr val="64748B"/>
                </a:solidFill>
                <a:latin typeface="Segoe UI"/>
              </a:defRPr>
            </a:pPr>
            <a:r>
              <a:t>    Calculates cosine similarity against stored asset fingerprints in the ReferenceStore (~1ms).</a:t>
            </a:r>
          </a:p>
          <a:p>
            <a:pPr>
              <a:spcBef>
                <a:spcPts val="4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▶  5. Spatial Delta Tracking</a:t>
            </a:r>
          </a:p>
          <a:p>
            <a:pPr>
              <a:spcBef>
                <a:spcPts val="100"/>
              </a:spcBef>
              <a:defRPr sz="980">
                <a:solidFill>
                  <a:srgbClr val="64748B"/>
                </a:solidFill>
                <a:latin typeface="Segoe UI"/>
              </a:defRPr>
            </a:pPr>
            <a:r>
              <a:t>    Compares detected position with baseline. Computes displacement vs 3m threshold.</a:t>
            </a:r>
          </a:p>
          <a:p>
            <a:pPr>
              <a:spcBef>
                <a:spcPts val="400"/>
              </a:spcBef>
              <a:defRPr sz="1100" b="1">
                <a:solidFill>
                  <a:srgbClr val="184C78"/>
                </a:solidFill>
                <a:latin typeface="Segoe UI"/>
              </a:defRPr>
            </a:pPr>
            <a:r>
              <a:t>▶  6. Evidence &amp; ROS2 Publish</a:t>
            </a:r>
          </a:p>
          <a:p>
            <a:pPr>
              <a:spcBef>
                <a:spcPts val="100"/>
              </a:spcBef>
              <a:defRPr sz="980">
                <a:solidFill>
                  <a:srgbClr val="64748B"/>
                </a:solidFill>
                <a:latin typeface="Segoe UI"/>
              </a:defRPr>
            </a:pPr>
            <a:r>
              <a:t>    On state change or violation, logs raw + annotated evidence and publishes to ROS2 topic.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011680"/>
            <a:ext cx="4626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4-Tier Identity Confidence System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●  CONFIRMED — Similarity ≥ 0.85 (High Margin)</a:t>
            </a:r>
          </a:p>
          <a:p>
            <a:pPr>
              <a:spcBef>
                <a:spcPts val="2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    Action: Definite match. Asset identity is locked. State updated in registry without operator distraction.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●  PROBABLE — Similarity ≥ 0.65</a:t>
            </a:r>
          </a:p>
          <a:p>
            <a:pPr>
              <a:spcBef>
                <a:spcPts val="2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    Action: Match under non-ideal angles or lighting. Logged with audit flag; automated tracking continues.</a:t>
            </a:r>
          </a:p>
          <a:p>
            <a:pPr>
              <a:spcBef>
                <a:spcPts val="600"/>
              </a:spcBef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●  AMBIGUOUS — Two Assets Competing Closely</a:t>
            </a:r>
          </a:p>
          <a:p>
            <a:pPr>
              <a:spcBef>
                <a:spcPts val="2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    Action: Cosine scores are tied (margin &lt; 0.15). Alerts operator tablet for quick validation instead of guessing.</a:t>
            </a:r>
          </a:p>
          <a:p>
            <a:pPr>
              <a:spcBef>
                <a:spcPts val="600"/>
              </a:spcBef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●  UNKNOWN — Similarity &lt; 0.40</a:t>
            </a:r>
          </a:p>
          <a:p>
            <a:pPr>
              <a:spcBef>
                <a:spcPts val="2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    Action: New equipment arrived on site. Auto-registers as candidate asset or triggers security onboarding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Environment-Agnostic Perception Platform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ROBUSTNESS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Built for Industrial Field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Proactive engineering safeguards addressing lighting variations, occlusions, and compute limits.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471830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  <a:latin typeface="Segoe UI"/>
              </a:defRPr>
            </a:pPr>
            <a:r>
              <a:t>01  |  Lighting &amp; Sun Shadow Shifts</a:t>
            </a:r>
          </a:p>
          <a:p>
            <a:pPr>
              <a:spcBef>
                <a:spcPts val="300"/>
              </a:spcBef>
              <a:defRPr sz="980">
                <a:solidFill>
                  <a:srgbClr val="64748B"/>
                </a:solidFill>
                <a:latin typeface="Segoe UI"/>
              </a:defRPr>
            </a:pPr>
            <a:r>
              <a:t>Challenge: Harsh morning vs late afternoon sunlight alters machine appearance.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Safeguard: Multi-Embedding Centroids: The ReferenceStore stores up to 10 visual embeddings per asset across different times of day, computing a stable mathematical centroid resistant to glare and shadows.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1901952"/>
            <a:ext cx="471830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  <a:latin typeface="Segoe UI"/>
              </a:defRPr>
            </a:pPr>
            <a:r>
              <a:t>02  |  Temporary Obstacles &amp; Occlusion</a:t>
            </a:r>
          </a:p>
          <a:p>
            <a:pPr>
              <a:spcBef>
                <a:spcPts val="300"/>
              </a:spcBef>
              <a:defRPr sz="980">
                <a:solidFill>
                  <a:srgbClr val="64748B"/>
                </a:solidFill>
                <a:latin typeface="Segoe UI"/>
              </a:defRPr>
            </a:pPr>
            <a:r>
              <a:t>Challenge: A passing truck or worker momentarily blocks the camera's view.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Safeguard: Temporal Hysteresis Buffering: Missing alerts are NEVER raised on a single frame dropout. The system requires N consecutive patrol misses before flagging 'ASSET MISSING', eliminating false security calls.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175504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33672"/>
            <a:ext cx="471830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  <a:latin typeface="Segoe UI"/>
              </a:defRPr>
            </a:pPr>
            <a:r>
              <a:t>03  |  Pi 5 Compute Bottlenecks</a:t>
            </a:r>
          </a:p>
          <a:p>
            <a:pPr>
              <a:spcBef>
                <a:spcPts val="300"/>
              </a:spcBef>
              <a:defRPr sz="980">
                <a:solidFill>
                  <a:srgbClr val="64748B"/>
                </a:solidFill>
                <a:latin typeface="Segoe UI"/>
              </a:defRPr>
            </a:pPr>
            <a:r>
              <a:t>Challenge: Multiple machines in frame could drop frame rate below target.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Safeguard: Adaptive Re-ID Execution: If an asset's bounding box is stationary across consecutive frames, deep Re-ID embedding extraction is safely bypassed, preserving steady 3-5 FPS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069080"/>
            <a:ext cx="5175504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4233672"/>
            <a:ext cx="471830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4C78"/>
                </a:solidFill>
                <a:latin typeface="Segoe UI"/>
              </a:defRPr>
            </a:pPr>
            <a:r>
              <a:t>04  |  Forensic-Grade Evidence Logging</a:t>
            </a:r>
          </a:p>
          <a:p>
            <a:pPr>
              <a:spcBef>
                <a:spcPts val="300"/>
              </a:spcBef>
              <a:defRPr sz="980">
                <a:solidFill>
                  <a:srgbClr val="64748B"/>
                </a:solidFill>
                <a:latin typeface="Segoe UI"/>
              </a:defRPr>
            </a:pPr>
            <a:r>
              <a:t>Challenge: Disputed relocation events or auditing compliance challenges.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Safeguard: Dual-Stream Cryptographic Evidence: Saves pristine unannotated original frames, cropped asset views, annotated overlays, and JSON metadata with robot coordinates and timestamps for legal compliance.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Environment-Agnostic Perception Platform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EXECUTIVE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Commercial &amp; Operational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Comparing project velocity, deployment costs, and operational reliability.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10271455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78"/>
                </a:solidFill>
                <a:latin typeface="Segoe UI"/>
              </a:defRPr>
            </a:pPr>
            <a:r>
              <a:t>CLIENT DEPLOYMENT SPEED</a:t>
            </a:r>
          </a:p>
          <a:p>
            <a:pPr>
              <a:spcBef>
                <a:spcPts val="2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Prototype: 2–3 Weeks of Custom Engineering    ➔    Agnostic Platform: &lt; 1 Day Calibration (Profile + HITL)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Business Value: 90% faster rollout. Enables signing and onboarding new facilities without software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90088"/>
            <a:ext cx="10271455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78"/>
                </a:solidFill>
                <a:latin typeface="Segoe UI"/>
              </a:defRPr>
            </a:pPr>
            <a:r>
              <a:t>CODEBASE MAINTAINABILITY</a:t>
            </a:r>
          </a:p>
          <a:p>
            <a:pPr>
              <a:spcBef>
                <a:spcPts val="2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Prototype: Fragmented Forks per Client Site    ➔    Agnostic Platform: Single Unified Base Codebase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Business Value: One bug fix or vision enhancement benefits every deployed robot simultaneously.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33088"/>
            <a:ext cx="10271455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78"/>
                </a:solidFill>
                <a:latin typeface="Segoe UI"/>
              </a:defRPr>
            </a:pPr>
            <a:r>
              <a:t>VISUAL ACCURACY &amp; RELIABILITY</a:t>
            </a:r>
          </a:p>
          <a:p>
            <a:pPr>
              <a:spcBef>
                <a:spcPts val="2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Prototype: Generic Out-of-the-Box Models (~50-60%)    ➔    Agnostic Platform: Environment-Calibrated ONNX (85-95%+)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Business Value: Near-zero false alarms; high operator trust from day two of deployment.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276088"/>
            <a:ext cx="10271455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4C78"/>
                </a:solidFill>
                <a:latin typeface="Segoe UI"/>
              </a:defRPr>
            </a:pPr>
            <a:r>
              <a:t>HARDWARE INVESTMENT</a:t>
            </a:r>
          </a:p>
          <a:p>
            <a:pPr>
              <a:spcBef>
                <a:spcPts val="2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Prototype: High-Cost Industrial GPU Modules    ➔    Agnostic Platform: Low-Power Raspberry Pi 5 CPU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Business Value: Keeps robot build costs low while ensuring 24/7 battery endurance on mobile patrols.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Environment-Agnostic Perception Platform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EXECUTION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Milestones &amp; Immediate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Structured technical roadmap leading to live client demonstration and field validation.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84C78"/>
                </a:solidFill>
                <a:latin typeface="Segoe UI"/>
              </a:defRPr>
            </a:pPr>
            <a:r>
              <a:t>STAGE 1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Segoe UI"/>
              </a:defRPr>
            </a:pPr>
            <a:r>
              <a:t>Modular Profile Loader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950" b="1">
                <a:solidFill>
                  <a:srgbClr val="184C78"/>
                </a:solidFill>
                <a:latin typeface="Segoe UI"/>
              </a:defRPr>
            </a:pPr>
            <a:r>
              <a:t>Status: In Progress (Current Sprint)</a:t>
            </a:r>
          </a:p>
          <a:p>
            <a:pPr>
              <a:defRPr sz="1000" b="1">
                <a:solidFill>
                  <a:srgbClr val="1E293B"/>
                </a:solidFill>
                <a:latin typeface="Segoe UI"/>
              </a:defRPr>
            </a:pPr>
            <a:r>
              <a:t>KEY DELIVERABLES: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✔ Implement 'profile_loader.py' to parse YAML into active runtime modules.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✔ Inject dynamic class taxonomies &amp; confidence thresholds.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✔ Ensure zero hardcoded paths across 'detector.py' and 'reference_store.py'.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6596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STAGE 2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Segoe UI"/>
              </a:defRPr>
            </a:pPr>
            <a:r>
              <a:t>ROS2 Navigation Handshake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950" b="1">
                <a:solidFill>
                  <a:srgbClr val="F59E0B"/>
                </a:solidFill>
                <a:latin typeface="Segoe UI"/>
              </a:defRPr>
            </a:pPr>
            <a:r>
              <a:t>Status: Awaiting Bag File / Topics</a:t>
            </a:r>
          </a:p>
          <a:p>
            <a:pPr>
              <a:defRPr sz="1000" b="1">
                <a:solidFill>
                  <a:srgbClr val="1E293B"/>
                </a:solidFill>
                <a:latin typeface="Segoe UI"/>
              </a:defRPr>
            </a:pPr>
            <a:r>
              <a:t>KEY DELIVERABLES: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✔ Map 2D camera pixels to 3D site coordinates via map projection.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✔ Subscribe to camera frame topic and robot pose/TF topics.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✔ Publish verified asset detections to '/perception/detections'.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73736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6596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STAGE 3</a:t>
            </a:r>
          </a:p>
          <a:p>
            <a:pPr>
              <a:spcBef>
                <a:spcPts val="200"/>
              </a:spcBef>
              <a:defRPr sz="1600" b="1">
                <a:solidFill>
                  <a:srgbClr val="1E293B"/>
                </a:solidFill>
                <a:latin typeface="Segoe UI"/>
              </a:defRPr>
            </a:pPr>
            <a:r>
              <a:t>HITL Capture &amp; Field Pilot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Status: Pilot Validation</a:t>
            </a:r>
          </a:p>
          <a:p>
            <a:pPr>
              <a:defRPr sz="1000" b="1">
                <a:solidFill>
                  <a:srgbClr val="1E293B"/>
                </a:solidFill>
                <a:latin typeface="Segoe UI"/>
              </a:defRPr>
            </a:pPr>
            <a:r>
              <a:t>KEY DELIVERABLES: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✔ Deploy tablet-friendly HITL calibration interface for site walkthrough.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✔ Run 30-min offline fine-tuning workflow on captured assets.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  <a:latin typeface="Segoe UI"/>
              </a:defRPr>
            </a:pPr>
            <a:r>
              <a:t>✔ Conduct full 24-hour autonomous audit trial at client facility.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SITE Assets Monitor | Environment-Agnostic Perception Platform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SITE Assets Monitor</a:t>
            </a:r>
          </a:p>
          <a:p>
            <a:pPr>
              <a:spcBef>
                <a:spcPts val="400"/>
              </a:spcBef>
              <a:defRPr sz="1600">
                <a:solidFill>
                  <a:srgbClr val="0EA5E9"/>
                </a:solidFill>
                <a:latin typeface="Segoe UI"/>
              </a:defRPr>
            </a:pPr>
            <a:r>
              <a:t>Ready to Power Multi-Site Autonomous Auditing &amp; Visual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328416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606040"/>
            <a:ext cx="28712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ZERO CODE REWRITES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Profile-Driven Flexibility</a:t>
            </a:r>
          </a:p>
          <a:p>
            <a:pPr>
              <a:spcBef>
                <a:spcPts val="5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 100% config-based onboarding.</a:t>
            </a:r>
          </a:p>
          <a:p>
            <a:pPr>
              <a:spcBef>
                <a:spcPts val="5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 Deploy to construction sites, ports, or warehouses using YAML profiles.</a:t>
            </a:r>
          </a:p>
          <a:p>
            <a:pPr>
              <a:spcBef>
                <a:spcPts val="5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 Central core engine remains untouched and scalable across all clients.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377440"/>
            <a:ext cx="3328416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606040"/>
            <a:ext cx="28712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EDGE-OPTIMIZED EFFICIENCY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Raspberry Pi 5 Ready</a:t>
            </a:r>
          </a:p>
          <a:p>
            <a:pPr>
              <a:spcBef>
                <a:spcPts val="5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 Smooth 3-5 FPS inference on low-power onboard CPU.</a:t>
            </a:r>
          </a:p>
          <a:p>
            <a:pPr>
              <a:spcBef>
                <a:spcPts val="5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 Zero heavy onboard GPU requirement.</a:t>
            </a:r>
          </a:p>
          <a:p>
            <a:pPr>
              <a:spcBef>
                <a:spcPts val="5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 Offline 30-min fine-tuning yields high-accuracy custom ONNX weights.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377440"/>
            <a:ext cx="3328416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606040"/>
            <a:ext cx="28712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HIGH-CONFIDENCE AUDITING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Autonomous Security &amp; Audits</a:t>
            </a:r>
          </a:p>
          <a:p>
            <a:pPr>
              <a:spcBef>
                <a:spcPts val="5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 Markerless visual Re-ID with 4-tier confidence verification.</a:t>
            </a:r>
          </a:p>
          <a:p>
            <a:pPr>
              <a:spcBef>
                <a:spcPts val="5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 Defensible dual-stream evidence generation with tamper-proof metadata.</a:t>
            </a:r>
          </a:p>
          <a:p>
            <a:pPr>
              <a:spcBef>
                <a:spcPts val="5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 Seamless integration with mobile robot ROS2 navigation stacks.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SITE Assets Monitor | Environment-Agnostic Perception Platform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