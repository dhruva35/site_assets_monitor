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team. Today I want to give you a clear, concise update on the SITE Assets Monitor perception system. We have reached our 50% milestone: the core AI perception engine—including object detection, quality gating, and vehicle re-identification—is fully built, tested with 77 passing unit tests, and verified end-to-end. Today I will also walk through our two-phase operational design—showing exactly how the human walkthrough enrollment works versus ongoing autonomous robot monitoring, followed by our camera validation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is completely built and functional right now: First, an image quality gating filter that rejects blurry or glare-blinded images. Second, a custom YOLOv8 detector for construction machinery. Third, our Re-ID engine using OSNet—this allows the system to recognize specific assets, like distinguishing Truck #04 from Truck #02. Fourth, a persistent reference store that logs cropped photos, timestamps, and metadata. Most importantly, the entire codebase has 77 automated unit tests, and all 77 are passing cleanly.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illustrates the full system operational workflow. At the top is Phase 1: Human Walkthrough, which is a one-time onboarding setup where a human guides the robot to capture and lock the site's ground truth database. At the bottom is Phase 2: Autonomous Patrol, where the robot drives ongoing patrol routes, detects equipment in real time, matches visual fingerprints against the locked database, and compares current real-world positions with stored positions to trigger instant movement alerts.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the operational design crystal clear: In Phase 1, an operator walks the robot through the site just once. The system spots each excavator, crane, or truck, records its GPS coordinates, generates a 512-dimensional fingerprint, and locks this into the reference database as Ground Truth. In Phase 2, the robot patrols autonomously. Every time it spots equipment, it identifies who it is using Re-ID, calculates where the machine is, and compares that to the Phase 1 baseline. If it is within 3 meters, it logs 'In Place'. If it has moved past 3 meters, it immediately raises an alert with the new coordinates and evidence photos.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visual proof from our test suite. On the left is the exact step-by-step pipeline from raw frame intake to audit logging. On the right is the actual output from our test run: our YOLOv8 model detects the vehicle with 99% confidence, and our Re-ID pipeline crops the vehicle and compares its visual signature against the site database. The system has been verified using scripts/demo_reid.py and is ready for live stream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the camera proposed by the team lead: I reviewed the Orbbec Gemini 2 XL PoE datasheet thoroughly. It is an excellent choice for three reasons: First, it handles harsh outdoor sunlight much better than indoor depth cameras. Second, PoE eliminates loose USB cable disconnects on a moving robot. Third, it is 100% compatible with our perception software—we subscribe directly to its ROS2 RGB image stream, and we can use its depth channel to compute real-world distance to equipment. From the AI side, this gets a clear green light.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keep our momentum going, here are the 3 key things I need from the team: First, sample site photos or a short rosbag recording so I can calibrate our Re-ID similarity thresholds against actual site lighting and dust. Second, confirmation of the ROS2 topic names and alert message formats your navigation system expects. Third, sign-off on Milestone 1, which confirms the core perception engine meets your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Our next immediate step is wrapping the perception engine into a ROS2 node, adding movement and dwell time tracking, and optimizing our models for low latency. Everything is on schedule, the foundation is rock solid, and I'm ready to answer any questions or discuss your feedback.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188720"/>
            <a:ext cx="9448495"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188720"/>
            <a:ext cx="94484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828800" y="1600200"/>
            <a:ext cx="2377440" cy="32004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defRPr>
            </a:pPr>
            <a:r>
              <a:t>MILESTONE 1 : 50% COMPLETE</a:t>
            </a:r>
          </a:p>
        </p:txBody>
      </p:sp>
      <p:sp>
        <p:nvSpPr>
          <p:cNvPr id="6" name="TextBox 5"/>
          <p:cNvSpPr txBox="1"/>
          <p:nvPr/>
        </p:nvSpPr>
        <p:spPr>
          <a:xfrm>
            <a:off x="1828800" y="2057400"/>
            <a:ext cx="8503920" cy="1645920"/>
          </a:xfrm>
          <a:prstGeom prst="rect">
            <a:avLst/>
          </a:prstGeom>
          <a:noFill/>
        </p:spPr>
        <p:txBody>
          <a:bodyPr wrap="square">
            <a:spAutoFit/>
          </a:bodyPr>
          <a:lstStyle/>
          <a:p>
            <a:pPr>
              <a:defRPr sz="3600" b="1">
                <a:solidFill>
                  <a:srgbClr val="0F172A"/>
                </a:solidFill>
                <a:latin typeface="Segoe UI"/>
              </a:defRPr>
            </a:pPr>
            <a:r>
              <a:t>SITE Assets Monitor</a:t>
            </a:r>
          </a:p>
          <a:p>
            <a:pPr>
              <a:spcBef>
                <a:spcPts val="600"/>
              </a:spcBef>
              <a:defRPr sz="1600">
                <a:solidFill>
                  <a:srgbClr val="2563EB"/>
                </a:solidFill>
                <a:latin typeface="Segoe UI"/>
              </a:defRPr>
            </a:pPr>
            <a:r>
              <a:t>Core AI Perception &amp; Equipment Re-ID System — Progress Update</a:t>
            </a:r>
          </a:p>
        </p:txBody>
      </p:sp>
      <p:sp>
        <p:nvSpPr>
          <p:cNvPr id="7" name="Rectangle 6"/>
          <p:cNvSpPr/>
          <p:nvPr/>
        </p:nvSpPr>
        <p:spPr>
          <a:xfrm>
            <a:off x="1828800" y="3749039"/>
            <a:ext cx="850392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3931920"/>
            <a:ext cx="8503920" cy="1371600"/>
          </a:xfrm>
          <a:prstGeom prst="rect">
            <a:avLst/>
          </a:prstGeom>
          <a:noFill/>
        </p:spPr>
        <p:txBody>
          <a:bodyPr wrap="square">
            <a:spAutoFit/>
          </a:bodyPr>
          <a:lstStyle/>
          <a:p>
            <a:pPr>
              <a:defRPr sz="1300" b="1">
                <a:solidFill>
                  <a:srgbClr val="0F172A"/>
                </a:solidFill>
                <a:latin typeface="Segoe UI"/>
              </a:defRPr>
            </a:pPr>
            <a:r>
              <a:t>Author / Engineer: Dhruvaveer (AI Perception Specialist)</a:t>
            </a:r>
          </a:p>
          <a:p>
            <a:pPr>
              <a:spcBef>
                <a:spcPts val="400"/>
              </a:spcBef>
              <a:defRPr sz="1150">
                <a:solidFill>
                  <a:srgbClr val="475569"/>
                </a:solidFill>
                <a:latin typeface="Segoe UI"/>
              </a:defRPr>
            </a:pPr>
            <a:r>
              <a:t>Agenda: 1. Core Engine Built  •  2. System Design Flow (Phase 1 vs 2)  •  3. Orbbec Camera  •  4. Next Steps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411480"/>
            <a:ext cx="23774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Segoe UI"/>
              </a:defRPr>
            </a:pPr>
            <a:r>
              <a:t>DEVELOPMENT PROGRESS</a:t>
            </a:r>
          </a:p>
        </p:txBody>
      </p:sp>
      <p:sp>
        <p:nvSpPr>
          <p:cNvPr id="4" name="TextBox 3"/>
          <p:cNvSpPr txBox="1"/>
          <p:nvPr/>
        </p:nvSpPr>
        <p:spPr>
          <a:xfrm>
            <a:off x="822960" y="777240"/>
            <a:ext cx="10515600" cy="822960"/>
          </a:xfrm>
          <a:prstGeom prst="rect">
            <a:avLst/>
          </a:prstGeom>
          <a:noFill/>
        </p:spPr>
        <p:txBody>
          <a:bodyPr wrap="square" lIns="0" rIns="0" tIns="0" bIns="0">
            <a:spAutoFit/>
          </a:bodyPr>
          <a:lstStyle/>
          <a:p>
            <a:pPr>
              <a:defRPr sz="2300" b="1">
                <a:solidFill>
                  <a:srgbClr val="0F172A"/>
                </a:solidFill>
                <a:latin typeface="Segoe UI"/>
              </a:defRPr>
            </a:pPr>
            <a:r>
              <a:t>Current Developments: Core AI Engine Complete</a:t>
            </a:r>
          </a:p>
          <a:p>
            <a:pPr>
              <a:spcBef>
                <a:spcPts val="300"/>
              </a:spcBef>
              <a:defRPr sz="1150">
                <a:solidFill>
                  <a:srgbClr val="475569"/>
                </a:solidFill>
                <a:latin typeface="Segoe UI"/>
              </a:defRPr>
            </a:pPr>
            <a:r>
              <a:t>Full end-to-end perception pipeline built, tested, and passing 77 automated test suites.</a:t>
            </a:r>
          </a:p>
        </p:txBody>
      </p:sp>
      <p:sp>
        <p:nvSpPr>
          <p:cNvPr id="5" name="Rounded Rectangle 4"/>
          <p:cNvSpPr/>
          <p:nvPr/>
        </p:nvSpPr>
        <p:spPr>
          <a:xfrm>
            <a:off x="822960" y="1737360"/>
            <a:ext cx="24688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737360"/>
            <a:ext cx="246888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2103120" cy="3566160"/>
          </a:xfrm>
          <a:prstGeom prst="rect">
            <a:avLst/>
          </a:prstGeom>
          <a:noFill/>
        </p:spPr>
        <p:txBody>
          <a:bodyPr wrap="square">
            <a:spAutoFit/>
          </a:bodyPr>
          <a:lstStyle/>
          <a:p>
            <a:pPr>
              <a:defRPr sz="1100" b="1">
                <a:solidFill>
                  <a:srgbClr val="2563EB"/>
                </a:solidFill>
                <a:latin typeface="Segoe UI"/>
              </a:defRPr>
            </a:pPr>
            <a:r>
              <a:t>1. Image Quality Gating</a:t>
            </a:r>
          </a:p>
          <a:p>
            <a:pPr>
              <a:spcBef>
                <a:spcPts val="400"/>
              </a:spcBef>
              <a:defRPr sz="1400" b="1">
                <a:solidFill>
                  <a:srgbClr val="0F172A"/>
                </a:solidFill>
                <a:latin typeface="Segoe UI"/>
              </a:defRPr>
            </a:pPr>
            <a:r>
              <a:t>Pre-Filter Guard</a:t>
            </a:r>
          </a:p>
          <a:p>
            <a:pPr>
              <a:spcBef>
                <a:spcPts val="1000"/>
              </a:spcBef>
              <a:defRPr sz="1050">
                <a:solidFill>
                  <a:srgbClr val="475569"/>
                </a:solidFill>
                <a:latin typeface="Segoe UI"/>
              </a:defRPr>
            </a:pPr>
            <a:r>
              <a:t>Automatically evaluates brightness, blurriness, and solar glare. Drops unviable frames early so corrupted images never pollute the database or trigger false positives.</a:t>
            </a:r>
          </a:p>
        </p:txBody>
      </p:sp>
      <p:sp>
        <p:nvSpPr>
          <p:cNvPr id="8" name="Rounded Rectangle 7"/>
          <p:cNvSpPr/>
          <p:nvPr/>
        </p:nvSpPr>
        <p:spPr>
          <a:xfrm>
            <a:off x="3511296" y="1737360"/>
            <a:ext cx="24688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11296" y="1737360"/>
            <a:ext cx="24688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94176" y="1920240"/>
            <a:ext cx="2103120" cy="3566160"/>
          </a:xfrm>
          <a:prstGeom prst="rect">
            <a:avLst/>
          </a:prstGeom>
          <a:noFill/>
        </p:spPr>
        <p:txBody>
          <a:bodyPr wrap="square">
            <a:spAutoFit/>
          </a:bodyPr>
          <a:lstStyle/>
          <a:p>
            <a:pPr>
              <a:defRPr sz="1100" b="1">
                <a:solidFill>
                  <a:srgbClr val="10B981"/>
                </a:solidFill>
                <a:latin typeface="Segoe UI"/>
              </a:defRPr>
            </a:pPr>
            <a:r>
              <a:t>2. Heavy Equipment Detection</a:t>
            </a:r>
          </a:p>
          <a:p>
            <a:pPr>
              <a:spcBef>
                <a:spcPts val="400"/>
              </a:spcBef>
              <a:defRPr sz="1400" b="1">
                <a:solidFill>
                  <a:srgbClr val="0F172A"/>
                </a:solidFill>
                <a:latin typeface="Segoe UI"/>
              </a:defRPr>
            </a:pPr>
            <a:r>
              <a:t>YOLOv8 Detection Engine</a:t>
            </a:r>
          </a:p>
          <a:p>
            <a:pPr>
              <a:spcBef>
                <a:spcPts val="1000"/>
              </a:spcBef>
              <a:defRPr sz="1050">
                <a:solidFill>
                  <a:srgbClr val="475569"/>
                </a:solidFill>
                <a:latin typeface="Segoe UI"/>
              </a:defRPr>
            </a:pPr>
            <a:r>
              <a:t>Accurately localizes site machinery (trucks, excavators, cranes, loaders) with tight bounding boxes, high confidence scoring, and configurable detection thresholds.</a:t>
            </a:r>
          </a:p>
        </p:txBody>
      </p:sp>
      <p:sp>
        <p:nvSpPr>
          <p:cNvPr id="11" name="Rounded Rectangle 10"/>
          <p:cNvSpPr/>
          <p:nvPr/>
        </p:nvSpPr>
        <p:spPr>
          <a:xfrm>
            <a:off x="6199632" y="1737360"/>
            <a:ext cx="24688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1737360"/>
            <a:ext cx="246888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920240"/>
            <a:ext cx="2103120" cy="3566160"/>
          </a:xfrm>
          <a:prstGeom prst="rect">
            <a:avLst/>
          </a:prstGeom>
          <a:noFill/>
        </p:spPr>
        <p:txBody>
          <a:bodyPr wrap="square">
            <a:spAutoFit/>
          </a:bodyPr>
          <a:lstStyle/>
          <a:p>
            <a:pPr>
              <a:defRPr sz="1100" b="1">
                <a:solidFill>
                  <a:srgbClr val="7C3AED"/>
                </a:solidFill>
                <a:latin typeface="Segoe UI"/>
              </a:defRPr>
            </a:pPr>
            <a:r>
              <a:t>3. Equipment Re-ID (Identity)</a:t>
            </a:r>
          </a:p>
          <a:p>
            <a:pPr>
              <a:spcBef>
                <a:spcPts val="400"/>
              </a:spcBef>
              <a:defRPr sz="1400" b="1">
                <a:solidFill>
                  <a:srgbClr val="0F172A"/>
                </a:solidFill>
                <a:latin typeface="Segoe UI"/>
              </a:defRPr>
            </a:pPr>
            <a:r>
              <a:t>OSNet Deep Feature Matcher</a:t>
            </a:r>
          </a:p>
          <a:p>
            <a:pPr>
              <a:spcBef>
                <a:spcPts val="1000"/>
              </a:spcBef>
              <a:defRPr sz="1050">
                <a:solidFill>
                  <a:srgbClr val="475569"/>
                </a:solidFill>
                <a:latin typeface="Segoe UI"/>
              </a:defRPr>
            </a:pPr>
            <a:r>
              <a:t>Moves beyond simple detection to identify specific units (e.g. 'Truck #04' vs 'Truck #02'). Extracts deep visual feature embeddings and compares them using cosine similarity.</a:t>
            </a:r>
          </a:p>
        </p:txBody>
      </p:sp>
      <p:sp>
        <p:nvSpPr>
          <p:cNvPr id="14" name="Rounded Rectangle 13"/>
          <p:cNvSpPr/>
          <p:nvPr/>
        </p:nvSpPr>
        <p:spPr>
          <a:xfrm>
            <a:off x="8887968" y="1737360"/>
            <a:ext cx="24688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887968" y="1737360"/>
            <a:ext cx="246888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0848" y="1920240"/>
            <a:ext cx="2103120" cy="3566160"/>
          </a:xfrm>
          <a:prstGeom prst="rect">
            <a:avLst/>
          </a:prstGeom>
          <a:noFill/>
        </p:spPr>
        <p:txBody>
          <a:bodyPr wrap="square">
            <a:spAutoFit/>
          </a:bodyPr>
          <a:lstStyle/>
          <a:p>
            <a:pPr>
              <a:defRPr sz="1100" b="1">
                <a:solidFill>
                  <a:srgbClr val="D97706"/>
                </a:solidFill>
                <a:latin typeface="Segoe UI"/>
              </a:defRPr>
            </a:pPr>
            <a:r>
              <a:t>4. Reference Store &amp; Evidence</a:t>
            </a:r>
          </a:p>
          <a:p>
            <a:pPr>
              <a:spcBef>
                <a:spcPts val="400"/>
              </a:spcBef>
              <a:defRPr sz="1400" b="1">
                <a:solidFill>
                  <a:srgbClr val="0F172A"/>
                </a:solidFill>
                <a:latin typeface="Segoe UI"/>
              </a:defRPr>
            </a:pPr>
            <a:r>
              <a:t>Audit Database &amp; Logger</a:t>
            </a:r>
          </a:p>
          <a:p>
            <a:pPr>
              <a:spcBef>
                <a:spcPts val="1000"/>
              </a:spcBef>
              <a:defRPr sz="1050">
                <a:solidFill>
                  <a:srgbClr val="475569"/>
                </a:solidFill>
                <a:latin typeface="Segoe UI"/>
              </a:defRPr>
            </a:pPr>
            <a:r>
              <a:t>Stores enrolled equipment signatures, clusters unknown vehicles, and automatically captures timestamped crop photos + JSON metadata logs for complete accountability.</a:t>
            </a:r>
          </a:p>
        </p:txBody>
      </p:sp>
      <p:sp>
        <p:nvSpPr>
          <p:cNvPr id="17" name="Rounded Rectangle 16"/>
          <p:cNvSpPr/>
          <p:nvPr/>
        </p:nvSpPr>
        <p:spPr>
          <a:xfrm>
            <a:off x="822960" y="5806440"/>
            <a:ext cx="10545775" cy="59436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70448"/>
            <a:ext cx="10149840" cy="457200"/>
          </a:xfrm>
          <a:prstGeom prst="rect">
            <a:avLst/>
          </a:prstGeom>
          <a:noFill/>
        </p:spPr>
        <p:txBody>
          <a:bodyPr wrap="none">
            <a:spAutoFit/>
          </a:bodyPr>
          <a:lstStyle/>
          <a:p>
            <a:pPr>
              <a:defRPr sz="1150" b="1">
                <a:solidFill>
                  <a:srgbClr val="10B981"/>
                </a:solidFill>
                <a:latin typeface="Segoe UI"/>
              </a:defRPr>
            </a:pPr>
            <a:r>
              <a:t>✓ Quality &amp; Stability Verified: 77 Unit Tests Passing (100% test pass rate across Quality, Detection, Re-ID, and Reference Store)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411480"/>
            <a:ext cx="23774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Segoe UI"/>
              </a:defRPr>
            </a:pPr>
            <a:r>
              <a:t>SYSTEM ARCHITECTURE</a:t>
            </a:r>
          </a:p>
        </p:txBody>
      </p:sp>
      <p:sp>
        <p:nvSpPr>
          <p:cNvPr id="4" name="TextBox 3"/>
          <p:cNvSpPr txBox="1"/>
          <p:nvPr/>
        </p:nvSpPr>
        <p:spPr>
          <a:xfrm>
            <a:off x="822960" y="777240"/>
            <a:ext cx="10515600" cy="822960"/>
          </a:xfrm>
          <a:prstGeom prst="rect">
            <a:avLst/>
          </a:prstGeom>
          <a:noFill/>
        </p:spPr>
        <p:txBody>
          <a:bodyPr wrap="square" lIns="0" rIns="0" tIns="0" bIns="0">
            <a:spAutoFit/>
          </a:bodyPr>
          <a:lstStyle/>
          <a:p>
            <a:pPr>
              <a:defRPr sz="2300" b="1">
                <a:solidFill>
                  <a:srgbClr val="0F172A"/>
                </a:solidFill>
                <a:latin typeface="Segoe UI"/>
              </a:defRPr>
            </a:pPr>
            <a:r>
              <a:t>System Design Flow: Operational Architecture</a:t>
            </a:r>
          </a:p>
          <a:p>
            <a:pPr>
              <a:spcBef>
                <a:spcPts val="300"/>
              </a:spcBef>
              <a:defRPr sz="1150">
                <a:solidFill>
                  <a:srgbClr val="475569"/>
                </a:solidFill>
                <a:latin typeface="Segoe UI"/>
              </a:defRPr>
            </a:pPr>
            <a:r>
              <a:t>Visual end-to-end pipeline: Phase 1 Enrollment creates Ground Truth; Phase 2 Autonomous Patrol verifies it.</a:t>
            </a:r>
          </a:p>
        </p:txBody>
      </p:sp>
      <p:sp>
        <p:nvSpPr>
          <p:cNvPr id="5" name="Rounded Rectangle 4"/>
          <p:cNvSpPr/>
          <p:nvPr/>
        </p:nvSpPr>
        <p:spPr>
          <a:xfrm>
            <a:off x="822960" y="1691640"/>
            <a:ext cx="10545775"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ystem_design_flow.png"/>
          <p:cNvPicPr>
            <a:picLocks noChangeAspect="1"/>
          </p:cNvPicPr>
          <p:nvPr/>
        </p:nvPicPr>
        <p:blipFill>
          <a:blip r:embed="rId2"/>
          <a:stretch>
            <a:fillRect/>
          </a:stretch>
        </p:blipFill>
        <p:spPr>
          <a:xfrm>
            <a:off x="914400" y="1783080"/>
            <a:ext cx="10362895" cy="580061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411480"/>
            <a:ext cx="23774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Segoe UI"/>
              </a:defRPr>
            </a:pPr>
            <a:r>
              <a:t>OPERATIONAL BREAKDOWN</a:t>
            </a:r>
          </a:p>
        </p:txBody>
      </p:sp>
      <p:sp>
        <p:nvSpPr>
          <p:cNvPr id="4" name="TextBox 3"/>
          <p:cNvSpPr txBox="1"/>
          <p:nvPr/>
        </p:nvSpPr>
        <p:spPr>
          <a:xfrm>
            <a:off x="822960" y="777240"/>
            <a:ext cx="10515600" cy="822960"/>
          </a:xfrm>
          <a:prstGeom prst="rect">
            <a:avLst/>
          </a:prstGeom>
          <a:noFill/>
        </p:spPr>
        <p:txBody>
          <a:bodyPr wrap="square" lIns="0" rIns="0" tIns="0" bIns="0">
            <a:spAutoFit/>
          </a:bodyPr>
          <a:lstStyle/>
          <a:p>
            <a:pPr>
              <a:defRPr sz="2300" b="1">
                <a:solidFill>
                  <a:srgbClr val="0F172A"/>
                </a:solidFill>
                <a:latin typeface="Segoe UI"/>
              </a:defRPr>
            </a:pPr>
            <a:r>
              <a:t>Operational Phases: Setup vs. Autonomous Patrol</a:t>
            </a:r>
          </a:p>
          <a:p>
            <a:pPr>
              <a:spcBef>
                <a:spcPts val="300"/>
              </a:spcBef>
              <a:defRPr sz="1150">
                <a:solidFill>
                  <a:srgbClr val="475569"/>
                </a:solidFill>
                <a:latin typeface="Segoe UI"/>
              </a:defRPr>
            </a:pPr>
            <a:r>
              <a:t>Clear separation between one-time baseline enrollment and continuous automated site monitoring.</a:t>
            </a:r>
          </a:p>
        </p:txBody>
      </p:sp>
      <p:sp>
        <p:nvSpPr>
          <p:cNvPr id="5" name="Rounded Rectangle 4"/>
          <p:cNvSpPr/>
          <p:nvPr/>
        </p:nvSpPr>
        <p:spPr>
          <a:xfrm>
            <a:off x="822960" y="1691640"/>
            <a:ext cx="5120640" cy="4709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691640"/>
            <a:ext cx="5120640"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20240"/>
            <a:ext cx="4572000" cy="4297680"/>
          </a:xfrm>
          <a:prstGeom prst="rect">
            <a:avLst/>
          </a:prstGeom>
          <a:noFill/>
        </p:spPr>
        <p:txBody>
          <a:bodyPr wrap="square">
            <a:spAutoFit/>
          </a:bodyPr>
          <a:lstStyle/>
          <a:p>
            <a:pPr>
              <a:defRPr sz="1600" b="1">
                <a:solidFill>
                  <a:srgbClr val="2563EB"/>
                </a:solidFill>
                <a:latin typeface="Segoe UI"/>
              </a:defRPr>
            </a:pPr>
            <a:r>
              <a:t>PHASE 1: Human Walkthrough</a:t>
            </a:r>
          </a:p>
          <a:p>
            <a:pPr>
              <a:spcBef>
                <a:spcPts val="200"/>
              </a:spcBef>
              <a:defRPr sz="1150">
                <a:solidFill>
                  <a:srgbClr val="475569"/>
                </a:solidFill>
                <a:latin typeface="Segoe UI"/>
              </a:defRPr>
            </a:pPr>
            <a:r>
              <a:t>One-Time Setup &amp; Baseline Enrollment</a:t>
            </a:r>
          </a:p>
          <a:p>
            <a:pPr>
              <a:spcBef>
                <a:spcPts val="800"/>
              </a:spcBef>
              <a:defRPr sz="1050" b="1">
                <a:solidFill>
                  <a:srgbClr val="0F172A"/>
                </a:solidFill>
                <a:latin typeface="Segoe UI"/>
              </a:defRPr>
            </a:pPr>
            <a:r>
              <a:t>• When It Happens: </a:t>
            </a:r>
            <a:r>
              <a:rPr b="0">
                <a:solidFill>
                  <a:srgbClr val="475569"/>
                </a:solidFill>
              </a:rPr>
              <a:t>Day 1 site deployment, or when new contractor machinery arrives.</a:t>
            </a:r>
          </a:p>
          <a:p>
            <a:pPr>
              <a:spcBef>
                <a:spcPts val="800"/>
              </a:spcBef>
              <a:defRPr sz="1050" b="1">
                <a:solidFill>
                  <a:srgbClr val="0F172A"/>
                </a:solidFill>
                <a:latin typeface="Segoe UI"/>
              </a:defRPr>
            </a:pPr>
            <a:r>
              <a:t>• Human Operator Role: </a:t>
            </a:r>
            <a:r>
              <a:rPr b="0">
                <a:solidFill>
                  <a:srgbClr val="475569"/>
                </a:solidFill>
              </a:rPr>
              <a:t>Guides the robot or carries camera past all parked machinery.</a:t>
            </a:r>
          </a:p>
          <a:p>
            <a:pPr>
              <a:spcBef>
                <a:spcPts val="800"/>
              </a:spcBef>
              <a:defRPr sz="1050" b="1">
                <a:solidFill>
                  <a:srgbClr val="0F172A"/>
                </a:solidFill>
                <a:latin typeface="Segoe UI"/>
              </a:defRPr>
            </a:pPr>
            <a:r>
              <a:t>• Multi-Modal Capture: </a:t>
            </a:r>
            <a:r>
              <a:rPr b="0">
                <a:solidFill>
                  <a:srgbClr val="475569"/>
                </a:solidFill>
              </a:rPr>
              <a:t>Orbbec camera records RGB image while robot SLAM/GPS logs precise (X,Y) coordinates.</a:t>
            </a:r>
          </a:p>
          <a:p>
            <a:pPr>
              <a:spcBef>
                <a:spcPts val="800"/>
              </a:spcBef>
              <a:defRPr sz="1050" b="1">
                <a:solidFill>
                  <a:srgbClr val="0F172A"/>
                </a:solidFill>
                <a:latin typeface="Segoe UI"/>
              </a:defRPr>
            </a:pPr>
            <a:r>
              <a:t>• Fingerprint Extraction: </a:t>
            </a:r>
            <a:r>
              <a:rPr b="0">
                <a:solidFill>
                  <a:srgbClr val="475569"/>
                </a:solidFill>
              </a:rPr>
              <a:t>YOLOv8 detects asset; OSNet extracts invariant 512D Re-ID embedding.</a:t>
            </a:r>
          </a:p>
          <a:p>
            <a:pPr>
              <a:spcBef>
                <a:spcPts val="800"/>
              </a:spcBef>
              <a:defRPr sz="1050" b="1">
                <a:solidFill>
                  <a:srgbClr val="0F172A"/>
                </a:solidFill>
                <a:latin typeface="Segoe UI"/>
              </a:defRPr>
            </a:pPr>
            <a:r>
              <a:t>• Database Lock: </a:t>
            </a:r>
            <a:r>
              <a:rPr b="0">
                <a:solidFill>
                  <a:srgbClr val="475569"/>
                </a:solidFill>
              </a:rPr>
              <a:t>Stored as Ground Truth: [Asset ID, Class, Stored Pose, Embedding, Crop Photo]. No false alerts possible.</a:t>
            </a:r>
          </a:p>
        </p:txBody>
      </p:sp>
      <p:sp>
        <p:nvSpPr>
          <p:cNvPr id="8" name="Rounded Rectangle 7"/>
          <p:cNvSpPr/>
          <p:nvPr/>
        </p:nvSpPr>
        <p:spPr>
          <a:xfrm>
            <a:off x="6217920" y="1691640"/>
            <a:ext cx="5150815" cy="4709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91640"/>
            <a:ext cx="5150815"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920240"/>
            <a:ext cx="4572000" cy="4297680"/>
          </a:xfrm>
          <a:prstGeom prst="rect">
            <a:avLst/>
          </a:prstGeom>
          <a:noFill/>
        </p:spPr>
        <p:txBody>
          <a:bodyPr wrap="square">
            <a:spAutoFit/>
          </a:bodyPr>
          <a:lstStyle/>
          <a:p>
            <a:pPr>
              <a:defRPr sz="1600" b="1">
                <a:solidFill>
                  <a:srgbClr val="10B981"/>
                </a:solidFill>
                <a:latin typeface="Segoe UI"/>
              </a:defRPr>
            </a:pPr>
            <a:r>
              <a:t>PHASE 2: Autonomous Patrol</a:t>
            </a:r>
          </a:p>
          <a:p>
            <a:pPr>
              <a:spcBef>
                <a:spcPts val="200"/>
              </a:spcBef>
              <a:defRPr sz="1150">
                <a:solidFill>
                  <a:srgbClr val="475569"/>
                </a:solidFill>
                <a:latin typeface="Segoe UI"/>
              </a:defRPr>
            </a:pPr>
            <a:r>
              <a:t>Continuous Ongoing Monitoring &amp; Verification</a:t>
            </a:r>
          </a:p>
          <a:p>
            <a:pPr>
              <a:spcBef>
                <a:spcPts val="800"/>
              </a:spcBef>
              <a:defRPr sz="1050" b="1">
                <a:solidFill>
                  <a:srgbClr val="0F172A"/>
                </a:solidFill>
                <a:latin typeface="Segoe UI"/>
              </a:defRPr>
            </a:pPr>
            <a:r>
              <a:t>• When It Happens: </a:t>
            </a:r>
            <a:r>
              <a:rPr b="0">
                <a:solidFill>
                  <a:srgbClr val="475569"/>
                </a:solidFill>
              </a:rPr>
              <a:t>Continuous daily/hourly autonomous patrol missions without human intervention.</a:t>
            </a:r>
          </a:p>
          <a:p>
            <a:pPr>
              <a:spcBef>
                <a:spcPts val="800"/>
              </a:spcBef>
              <a:defRPr sz="1050" b="1">
                <a:solidFill>
                  <a:srgbClr val="0F172A"/>
                </a:solidFill>
                <a:latin typeface="Segoe UI"/>
              </a:defRPr>
            </a:pPr>
            <a:r>
              <a:t>• Real-Time Re-ID Matching: </a:t>
            </a:r>
            <a:r>
              <a:rPr b="0">
                <a:solidFill>
                  <a:srgbClr val="475569"/>
                </a:solidFill>
              </a:rPr>
              <a:t>Robot scans equipment; compares live 512D embedding against the locked Phase 1 database.</a:t>
            </a:r>
          </a:p>
          <a:p>
            <a:pPr>
              <a:spcBef>
                <a:spcPts val="800"/>
              </a:spcBef>
              <a:defRPr sz="1050" b="1">
                <a:solidFill>
                  <a:srgbClr val="0F172A"/>
                </a:solidFill>
                <a:latin typeface="Segoe UI"/>
              </a:defRPr>
            </a:pPr>
            <a:r>
              <a:t>• Spatial Verification: </a:t>
            </a:r>
            <a:r>
              <a:rPr b="0">
                <a:solidFill>
                  <a:srgbClr val="475569"/>
                </a:solidFill>
              </a:rPr>
              <a:t>Computes live equipment coordinates using depth stream + robot pose. Compares against registered location.</a:t>
            </a:r>
          </a:p>
          <a:p>
            <a:pPr>
              <a:spcBef>
                <a:spcPts val="800"/>
              </a:spcBef>
              <a:defRPr sz="1050" b="1">
                <a:solidFill>
                  <a:srgbClr val="0F172A"/>
                </a:solidFill>
                <a:latin typeface="Segoe UI"/>
              </a:defRPr>
            </a:pPr>
            <a:r>
              <a:t>• Outcome A : In Place: </a:t>
            </a:r>
            <a:r>
              <a:rPr b="0">
                <a:solidFill>
                  <a:srgbClr val="475569"/>
                </a:solidFill>
              </a:rPr>
              <a:t>Distance Delta ≤ 3.0m → 'ASSET IN PLACE'. Logged cleanly with timestamp.</a:t>
            </a:r>
          </a:p>
          <a:p>
            <a:pPr>
              <a:spcBef>
                <a:spcPts val="800"/>
              </a:spcBef>
              <a:defRPr sz="1050" b="1">
                <a:solidFill>
                  <a:srgbClr val="0F172A"/>
                </a:solidFill>
                <a:latin typeface="Segoe UI"/>
              </a:defRPr>
            </a:pPr>
            <a:r>
              <a:t>• Outcome B : Relocation Alert: </a:t>
            </a:r>
            <a:r>
              <a:rPr b="0">
                <a:solidFill>
                  <a:srgbClr val="475569"/>
                </a:solidFill>
              </a:rPr>
              <a:t>Distance Delta &gt; 3.0m → 'ALERT: ASSET MOVED'. Dispatches old vs new coordinates + crop evidence to dashboard.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411480"/>
            <a:ext cx="23774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Segoe UI"/>
              </a:defRPr>
            </a:pPr>
            <a:r>
              <a:t>VERIFIED DEMO</a:t>
            </a:r>
          </a:p>
        </p:txBody>
      </p:sp>
      <p:sp>
        <p:nvSpPr>
          <p:cNvPr id="4" name="TextBox 3"/>
          <p:cNvSpPr txBox="1"/>
          <p:nvPr/>
        </p:nvSpPr>
        <p:spPr>
          <a:xfrm>
            <a:off x="822960" y="777240"/>
            <a:ext cx="10515600" cy="822960"/>
          </a:xfrm>
          <a:prstGeom prst="rect">
            <a:avLst/>
          </a:prstGeom>
          <a:noFill/>
        </p:spPr>
        <p:txBody>
          <a:bodyPr wrap="square" lIns="0" rIns="0" tIns="0" bIns="0">
            <a:spAutoFit/>
          </a:bodyPr>
          <a:lstStyle/>
          <a:p>
            <a:pPr>
              <a:defRPr sz="2300" b="1">
                <a:solidFill>
                  <a:srgbClr val="0F172A"/>
                </a:solidFill>
                <a:latin typeface="Segoe UI"/>
              </a:defRPr>
            </a:pPr>
            <a:r>
              <a:t>Pipeline Architecture &amp; Live Verification</a:t>
            </a:r>
          </a:p>
          <a:p>
            <a:pPr>
              <a:spcBef>
                <a:spcPts val="300"/>
              </a:spcBef>
              <a:defRPr sz="1150">
                <a:solidFill>
                  <a:srgbClr val="475569"/>
                </a:solidFill>
                <a:latin typeface="Segoe UI"/>
              </a:defRPr>
            </a:pPr>
            <a:r>
              <a:t>Visual proof of equipment identification, audit cropping, and end-to-end execution.</a:t>
            </a:r>
          </a:p>
        </p:txBody>
      </p:sp>
      <p:sp>
        <p:nvSpPr>
          <p:cNvPr id="5" name="Rounded Rectangle 4"/>
          <p:cNvSpPr/>
          <p:nvPr/>
        </p:nvSpPr>
        <p:spPr>
          <a:xfrm>
            <a:off x="822960" y="1691640"/>
            <a:ext cx="5120640" cy="4709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74519"/>
            <a:ext cx="4754880" cy="4297680"/>
          </a:xfrm>
          <a:prstGeom prst="rect">
            <a:avLst/>
          </a:prstGeom>
          <a:noFill/>
        </p:spPr>
        <p:txBody>
          <a:bodyPr wrap="square">
            <a:spAutoFit/>
          </a:bodyPr>
          <a:lstStyle/>
          <a:p>
            <a:pPr>
              <a:defRPr sz="1500" b="1">
                <a:solidFill>
                  <a:srgbClr val="2563EB"/>
                </a:solidFill>
                <a:latin typeface="Segoe UI"/>
              </a:defRPr>
            </a:pPr>
            <a:r>
              <a:t>End-to-End Processing Flow</a:t>
            </a:r>
          </a:p>
          <a:p>
            <a:pPr>
              <a:spcBef>
                <a:spcPts val="600"/>
              </a:spcBef>
              <a:defRPr sz="1050" b="1">
                <a:solidFill>
                  <a:srgbClr val="0F172A"/>
                </a:solidFill>
                <a:latin typeface="Segoe UI"/>
              </a:defRPr>
            </a:pPr>
            <a:r>
              <a:t>• Raw Video / Camera Frame: </a:t>
            </a:r>
            <a:r>
              <a:rPr b="0">
                <a:solidFill>
                  <a:srgbClr val="475569"/>
                </a:solidFill>
              </a:rPr>
              <a:t>Ingested via ROS2 topic (e.g. /camera/color/image_raw).</a:t>
            </a:r>
          </a:p>
          <a:p>
            <a:pPr>
              <a:spcBef>
                <a:spcPts val="600"/>
              </a:spcBef>
              <a:defRPr sz="1050" b="1">
                <a:solidFill>
                  <a:srgbClr val="0F172A"/>
                </a:solidFill>
                <a:latin typeface="Segoe UI"/>
              </a:defRPr>
            </a:pPr>
            <a:r>
              <a:t>• Quality Guard: </a:t>
            </a:r>
            <a:r>
              <a:rPr b="0">
                <a:solidFill>
                  <a:srgbClr val="475569"/>
                </a:solidFill>
              </a:rPr>
              <a:t>Evaluates sharpness, exposure, glare. Drops bad frames in &lt;3ms.</a:t>
            </a:r>
          </a:p>
          <a:p>
            <a:pPr>
              <a:spcBef>
                <a:spcPts val="600"/>
              </a:spcBef>
              <a:defRPr sz="1050" b="1">
                <a:solidFill>
                  <a:srgbClr val="0F172A"/>
                </a:solidFill>
                <a:latin typeface="Segoe UI"/>
              </a:defRPr>
            </a:pPr>
            <a:r>
              <a:t>• YOLOv8 Detection: </a:t>
            </a:r>
            <a:r>
              <a:rPr b="0">
                <a:solidFill>
                  <a:srgbClr val="475569"/>
                </a:solidFill>
              </a:rPr>
              <a:t>Generates bbox, class label ('Truck'), and detection confidence (99%).</a:t>
            </a:r>
          </a:p>
          <a:p>
            <a:pPr>
              <a:spcBef>
                <a:spcPts val="600"/>
              </a:spcBef>
              <a:defRPr sz="1050" b="1">
                <a:solidFill>
                  <a:srgbClr val="0F172A"/>
                </a:solidFill>
                <a:latin typeface="Segoe UI"/>
              </a:defRPr>
            </a:pPr>
            <a:r>
              <a:t>• OSNet Feature Extractor: </a:t>
            </a:r>
            <a:r>
              <a:rPr b="0">
                <a:solidFill>
                  <a:srgbClr val="475569"/>
                </a:solidFill>
              </a:rPr>
              <a:t>Extracts 512-dim visual embedding vector from vehicle crop.</a:t>
            </a:r>
          </a:p>
          <a:p>
            <a:pPr>
              <a:spcBef>
                <a:spcPts val="600"/>
              </a:spcBef>
              <a:defRPr sz="1050" b="1">
                <a:solidFill>
                  <a:srgbClr val="0F172A"/>
                </a:solidFill>
                <a:latin typeface="Segoe UI"/>
              </a:defRPr>
            </a:pPr>
            <a:r>
              <a:t>• Reference Matcher: </a:t>
            </a:r>
            <a:r>
              <a:rPr b="0">
                <a:solidFill>
                  <a:srgbClr val="475569"/>
                </a:solidFill>
              </a:rPr>
              <a:t>Computes cosine distance against known gallery: matches known asset or flags 'UNKNOWN'.</a:t>
            </a:r>
          </a:p>
          <a:p>
            <a:pPr>
              <a:spcBef>
                <a:spcPts val="600"/>
              </a:spcBef>
              <a:defRPr sz="1050" b="1">
                <a:solidFill>
                  <a:srgbClr val="0F172A"/>
                </a:solidFill>
                <a:latin typeface="Segoe UI"/>
              </a:defRPr>
            </a:pPr>
            <a:r>
              <a:t>• Evidence &amp; Audit Logger: </a:t>
            </a:r>
            <a:r>
              <a:rPr b="0">
                <a:solidFill>
                  <a:srgbClr val="475569"/>
                </a:solidFill>
              </a:rPr>
              <a:t>Saves full image, cropped asset, timestamp, and JSON audit log.</a:t>
            </a:r>
          </a:p>
        </p:txBody>
      </p:sp>
      <p:sp>
        <p:nvSpPr>
          <p:cNvPr id="7" name="Rounded Rectangle 6"/>
          <p:cNvSpPr/>
          <p:nvPr/>
        </p:nvSpPr>
        <p:spPr>
          <a:xfrm>
            <a:off x="6217920" y="1691640"/>
            <a:ext cx="5150815" cy="4709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754880" cy="320040"/>
          </a:xfrm>
          <a:prstGeom prst="rect">
            <a:avLst/>
          </a:prstGeom>
          <a:noFill/>
        </p:spPr>
        <p:txBody>
          <a:bodyPr wrap="none">
            <a:spAutoFit/>
          </a:bodyPr>
          <a:lstStyle/>
          <a:p>
            <a:pPr>
              <a:defRPr sz="1300" b="1">
                <a:solidFill>
                  <a:srgbClr val="10B981"/>
                </a:solidFill>
                <a:latin typeface="Segoe UI"/>
              </a:defRPr>
            </a:pPr>
            <a:r>
              <a:t>Actual Demo Output: Detection &amp; Cropped Evidence</a:t>
            </a:r>
          </a:p>
        </p:txBody>
      </p:sp>
      <p:pic>
        <p:nvPicPr>
          <p:cNvPr id="9" name="Picture 8" descr="demo_output.jpg"/>
          <p:cNvPicPr>
            <a:picLocks noChangeAspect="1"/>
          </p:cNvPicPr>
          <p:nvPr/>
        </p:nvPicPr>
        <p:blipFill>
          <a:blip r:embed="rId2"/>
          <a:stretch>
            <a:fillRect/>
          </a:stretch>
        </p:blipFill>
        <p:spPr>
          <a:xfrm>
            <a:off x="6400800" y="2194560"/>
            <a:ext cx="3017520" cy="1697355"/>
          </a:xfrm>
          <a:prstGeom prst="rect">
            <a:avLst/>
          </a:prstGeom>
        </p:spPr>
      </p:pic>
      <p:pic>
        <p:nvPicPr>
          <p:cNvPr id="10" name="Picture 9" descr="crop_20260906_162218_602_Truck_DEMO.jpg"/>
          <p:cNvPicPr>
            <a:picLocks noChangeAspect="1"/>
          </p:cNvPicPr>
          <p:nvPr/>
        </p:nvPicPr>
        <p:blipFill>
          <a:blip r:embed="rId3"/>
          <a:stretch>
            <a:fillRect/>
          </a:stretch>
        </p:blipFill>
        <p:spPr>
          <a:xfrm>
            <a:off x="9601200" y="2194560"/>
            <a:ext cx="1600200" cy="558673"/>
          </a:xfrm>
          <a:prstGeom prst="rect">
            <a:avLst/>
          </a:prstGeom>
        </p:spPr>
      </p:pic>
      <p:sp>
        <p:nvSpPr>
          <p:cNvPr id="11" name="TextBox 10"/>
          <p:cNvSpPr txBox="1"/>
          <p:nvPr/>
        </p:nvSpPr>
        <p:spPr>
          <a:xfrm>
            <a:off x="6400800" y="4572000"/>
            <a:ext cx="4754880" cy="1645920"/>
          </a:xfrm>
          <a:prstGeom prst="rect">
            <a:avLst/>
          </a:prstGeom>
          <a:noFill/>
        </p:spPr>
        <p:txBody>
          <a:bodyPr wrap="square">
            <a:spAutoFit/>
          </a:bodyPr>
          <a:lstStyle/>
          <a:p>
            <a:pPr>
              <a:defRPr sz="1100" b="1">
                <a:solidFill>
                  <a:srgbClr val="0F172A"/>
                </a:solidFill>
                <a:latin typeface="Segoe UI"/>
              </a:defRPr>
            </a:pPr>
            <a:r>
              <a:t>Demo Execution (`scripts/demo_reid.py`):</a:t>
            </a:r>
          </a:p>
          <a:p>
            <a:pPr>
              <a:spcBef>
                <a:spcPts val="300"/>
              </a:spcBef>
              <a:defRPr sz="1000">
                <a:solidFill>
                  <a:srgbClr val="475569"/>
                </a:solidFill>
                <a:latin typeface="Segoe UI"/>
              </a:defRPr>
            </a:pPr>
            <a:r>
              <a:t>✔ Tested with single and multi-vehicle frames.</a:t>
            </a:r>
          </a:p>
          <a:p>
            <a:pPr>
              <a:spcBef>
                <a:spcPts val="300"/>
              </a:spcBef>
              <a:defRPr sz="1000">
                <a:solidFill>
                  <a:srgbClr val="475569"/>
                </a:solidFill>
                <a:latin typeface="Segoe UI"/>
              </a:defRPr>
            </a:pPr>
            <a:r>
              <a:t>✔ Accurate bounding boxes generated at 99% &amp; 93% confidence.</a:t>
            </a:r>
          </a:p>
          <a:p>
            <a:pPr>
              <a:spcBef>
                <a:spcPts val="300"/>
              </a:spcBef>
              <a:defRPr sz="1000">
                <a:solidFill>
                  <a:srgbClr val="475569"/>
                </a:solidFill>
                <a:latin typeface="Segoe UI"/>
              </a:defRPr>
            </a:pPr>
            <a:r>
              <a:t>✔ Zero memory leaks, self-contained reference database.</a:t>
            </a:r>
          </a:p>
          <a:p>
            <a:pPr>
              <a:spcBef>
                <a:spcPts val="300"/>
              </a:spcBef>
              <a:defRPr sz="1000">
                <a:solidFill>
                  <a:srgbClr val="475569"/>
                </a:solidFill>
                <a:latin typeface="Segoe UI"/>
              </a:defRPr>
            </a:pPr>
            <a:r>
              <a:t>✔ Ready to accept live camera streaming.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411480"/>
            <a:ext cx="23774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Segoe UI"/>
              </a:defRPr>
            </a:pPr>
            <a:r>
              <a:t>HARDWARE VALIDATION</a:t>
            </a:r>
          </a:p>
        </p:txBody>
      </p:sp>
      <p:sp>
        <p:nvSpPr>
          <p:cNvPr id="4" name="TextBox 3"/>
          <p:cNvSpPr txBox="1"/>
          <p:nvPr/>
        </p:nvSpPr>
        <p:spPr>
          <a:xfrm>
            <a:off x="822960" y="777240"/>
            <a:ext cx="10515600" cy="822960"/>
          </a:xfrm>
          <a:prstGeom prst="rect">
            <a:avLst/>
          </a:prstGeom>
          <a:noFill/>
        </p:spPr>
        <p:txBody>
          <a:bodyPr wrap="square" lIns="0" rIns="0" tIns="0" bIns="0">
            <a:spAutoFit/>
          </a:bodyPr>
          <a:lstStyle/>
          <a:p>
            <a:pPr>
              <a:defRPr sz="2300" b="1">
                <a:solidFill>
                  <a:srgbClr val="0F172A"/>
                </a:solidFill>
                <a:latin typeface="Segoe UI"/>
              </a:defRPr>
            </a:pPr>
            <a:r>
              <a:t>Hardware Assessment: Orbbec Gemini 2 XL PoE</a:t>
            </a:r>
          </a:p>
          <a:p>
            <a:pPr>
              <a:spcBef>
                <a:spcPts val="300"/>
              </a:spcBef>
              <a:defRPr sz="1150">
                <a:solidFill>
                  <a:srgbClr val="475569"/>
                </a:solidFill>
                <a:latin typeface="Segoe UI"/>
              </a:defRPr>
            </a:pPr>
            <a:r>
              <a:t>Technical validation for sunny outdoor environments &amp; robot integration.</a:t>
            </a:r>
          </a:p>
        </p:txBody>
      </p:sp>
      <p:sp>
        <p:nvSpPr>
          <p:cNvPr id="5" name="Rounded Rectangle 4"/>
          <p:cNvSpPr/>
          <p:nvPr/>
        </p:nvSpPr>
        <p:spPr>
          <a:xfrm>
            <a:off x="822960" y="1691640"/>
            <a:ext cx="5120640" cy="4709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74519"/>
            <a:ext cx="4572000" cy="4297680"/>
          </a:xfrm>
          <a:prstGeom prst="rect">
            <a:avLst/>
          </a:prstGeom>
          <a:noFill/>
        </p:spPr>
        <p:txBody>
          <a:bodyPr wrap="square">
            <a:spAutoFit/>
          </a:bodyPr>
          <a:lstStyle/>
          <a:p>
            <a:pPr>
              <a:defRPr sz="1500" b="1">
                <a:solidFill>
                  <a:srgbClr val="2563EB"/>
                </a:solidFill>
                <a:latin typeface="Segoe UI"/>
              </a:defRPr>
            </a:pPr>
            <a:r>
              <a:t>Why It's a Strong Fit for the Robot</a:t>
            </a:r>
          </a:p>
          <a:p>
            <a:pPr>
              <a:spcBef>
                <a:spcPts val="800"/>
              </a:spcBef>
              <a:defRPr sz="1050" b="1">
                <a:solidFill>
                  <a:srgbClr val="0F172A"/>
                </a:solidFill>
                <a:latin typeface="Segoe UI"/>
              </a:defRPr>
            </a:pPr>
            <a:r>
              <a:t>• Outdoor Sunlight Resilience: </a:t>
            </a:r>
            <a:r>
              <a:rPr b="0">
                <a:solidFill>
                  <a:srgbClr val="475569"/>
                </a:solidFill>
              </a:rPr>
              <a:t>Unlike standard structured-light cameras that get blinded by the sun, the Gemini 2 XL uses active stereo depth, making it stable under outdoor solar IR.</a:t>
            </a:r>
          </a:p>
          <a:p>
            <a:pPr>
              <a:spcBef>
                <a:spcPts val="800"/>
              </a:spcBef>
              <a:defRPr sz="1050" b="1">
                <a:solidFill>
                  <a:srgbClr val="0F172A"/>
                </a:solidFill>
                <a:latin typeface="Segoe UI"/>
              </a:defRPr>
            </a:pPr>
            <a:r>
              <a:t>• PoE (Power over Ethernet): </a:t>
            </a:r>
            <a:r>
              <a:rPr b="0">
                <a:solidFill>
                  <a:srgbClr val="475569"/>
                </a:solidFill>
              </a:rPr>
              <a:t>Single ruggedized Ethernet cable supplies both power and data. Prevents loose USB connectors or ribbon-cable failures on a vibrating robot chassis.</a:t>
            </a:r>
          </a:p>
          <a:p>
            <a:pPr>
              <a:spcBef>
                <a:spcPts val="800"/>
              </a:spcBef>
              <a:defRPr sz="1050" b="1">
                <a:solidFill>
                  <a:srgbClr val="0F172A"/>
                </a:solidFill>
                <a:latin typeface="Segoe UI"/>
              </a:defRPr>
            </a:pPr>
            <a:r>
              <a:t>• Extended Range: </a:t>
            </a:r>
            <a:r>
              <a:rPr b="0">
                <a:solidFill>
                  <a:srgbClr val="475569"/>
                </a:solidFill>
              </a:rPr>
              <a:t>Offers reliable depth from 0.2m up to 5m+, perfect for large construction equipment patrol.</a:t>
            </a:r>
          </a:p>
          <a:p>
            <a:pPr>
              <a:spcBef>
                <a:spcPts val="800"/>
              </a:spcBef>
              <a:defRPr sz="1050" b="1">
                <a:solidFill>
                  <a:srgbClr val="0F172A"/>
                </a:solidFill>
                <a:latin typeface="Segoe UI"/>
              </a:defRPr>
            </a:pPr>
            <a:r>
              <a:t>• Official ROS2 SDK: </a:t>
            </a:r>
            <a:r>
              <a:rPr b="0">
                <a:solidFill>
                  <a:srgbClr val="475569"/>
                </a:solidFill>
              </a:rPr>
              <a:t>Official Orbbec ROS2 driver publishes standard sensor_msgs/Image topics out-of-the-box.</a:t>
            </a:r>
          </a:p>
        </p:txBody>
      </p:sp>
      <p:sp>
        <p:nvSpPr>
          <p:cNvPr id="7" name="Rounded Rectangle 6"/>
          <p:cNvSpPr/>
          <p:nvPr/>
        </p:nvSpPr>
        <p:spPr>
          <a:xfrm>
            <a:off x="6217920" y="1691640"/>
            <a:ext cx="5150815" cy="4709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74519"/>
            <a:ext cx="4572000" cy="4297680"/>
          </a:xfrm>
          <a:prstGeom prst="rect">
            <a:avLst/>
          </a:prstGeom>
          <a:noFill/>
        </p:spPr>
        <p:txBody>
          <a:bodyPr wrap="square">
            <a:spAutoFit/>
          </a:bodyPr>
          <a:lstStyle/>
          <a:p>
            <a:pPr>
              <a:defRPr sz="1500" b="1">
                <a:solidFill>
                  <a:srgbClr val="10B981"/>
                </a:solidFill>
                <a:latin typeface="Segoe UI"/>
              </a:defRPr>
            </a:pPr>
            <a:r>
              <a:t>Perception Integration Compatibility</a:t>
            </a:r>
          </a:p>
          <a:p>
            <a:pPr>
              <a:spcBef>
                <a:spcPts val="800"/>
              </a:spcBef>
              <a:defRPr sz="1050" b="1">
                <a:solidFill>
                  <a:srgbClr val="0F172A"/>
                </a:solidFill>
                <a:latin typeface="Segoe UI"/>
              </a:defRPr>
            </a:pPr>
            <a:r>
              <a:t>• 100% Pipeline Compatible: </a:t>
            </a:r>
            <a:r>
              <a:rPr b="0">
                <a:solidFill>
                  <a:srgbClr val="475569"/>
                </a:solidFill>
              </a:rPr>
              <a:t>Our YOLOv8 + OSNet pipeline takes standard RGB frames. We subscribe directly to `/camera/color/image_raw` with zero pipeline rework.</a:t>
            </a:r>
          </a:p>
          <a:p>
            <a:pPr>
              <a:spcBef>
                <a:spcPts val="800"/>
              </a:spcBef>
              <a:defRPr sz="1050" b="1">
                <a:solidFill>
                  <a:srgbClr val="0F172A"/>
                </a:solidFill>
                <a:latin typeface="Segoe UI"/>
              </a:defRPr>
            </a:pPr>
            <a:r>
              <a:t>• Depth-Enhanced Spatial Bounding: </a:t>
            </a:r>
            <a:r>
              <a:rPr b="0">
                <a:solidFill>
                  <a:srgbClr val="475569"/>
                </a:solidFill>
              </a:rPr>
              <a:t>The aligned depth stream will allow us to filter out background objects and measure exact real-world distance to detected machinery.</a:t>
            </a:r>
          </a:p>
          <a:p>
            <a:pPr>
              <a:spcBef>
                <a:spcPts val="800"/>
              </a:spcBef>
              <a:defRPr sz="1050" b="1">
                <a:solidFill>
                  <a:srgbClr val="0F172A"/>
                </a:solidFill>
                <a:latin typeface="Segoe UI"/>
              </a:defRPr>
            </a:pPr>
            <a:r>
              <a:t>• Network Topology: </a:t>
            </a:r>
            <a:r>
              <a:rPr b="0">
                <a:solidFill>
                  <a:srgbClr val="475569"/>
                </a:solidFill>
              </a:rPr>
              <a:t>PoE allows placing the camera anywhere on the chassis while routing cleanly into the onboard compute switch.</a:t>
            </a:r>
          </a:p>
          <a:p>
            <a:pPr>
              <a:spcBef>
                <a:spcPts val="800"/>
              </a:spcBef>
              <a:defRPr sz="1050" b="1">
                <a:solidFill>
                  <a:srgbClr val="0F172A"/>
                </a:solidFill>
                <a:latin typeface="Segoe UI"/>
              </a:defRPr>
            </a:pPr>
            <a:r>
              <a:t>• Decision Item: </a:t>
            </a:r>
            <a:r>
              <a:rPr b="0">
                <a:solidFill>
                  <a:srgbClr val="475569"/>
                </a:solidFill>
              </a:rPr>
              <a:t>Approved from AI perception standpoint. Ready to integrate once hardware is ordered / delivered.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411480"/>
            <a:ext cx="23774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Segoe UI"/>
              </a:defRPr>
            </a:pPr>
            <a:r>
              <a:t>ACTION ITEMS</a:t>
            </a:r>
          </a:p>
        </p:txBody>
      </p:sp>
      <p:sp>
        <p:nvSpPr>
          <p:cNvPr id="4" name="TextBox 3"/>
          <p:cNvSpPr txBox="1"/>
          <p:nvPr/>
        </p:nvSpPr>
        <p:spPr>
          <a:xfrm>
            <a:off x="822960" y="777240"/>
            <a:ext cx="10515600" cy="822960"/>
          </a:xfrm>
          <a:prstGeom prst="rect">
            <a:avLst/>
          </a:prstGeom>
          <a:noFill/>
        </p:spPr>
        <p:txBody>
          <a:bodyPr wrap="square" lIns="0" rIns="0" tIns="0" bIns="0">
            <a:spAutoFit/>
          </a:bodyPr>
          <a:lstStyle/>
          <a:p>
            <a:pPr>
              <a:defRPr sz="2300" b="1">
                <a:solidFill>
                  <a:srgbClr val="0F172A"/>
                </a:solidFill>
                <a:latin typeface="Segoe UI"/>
              </a:defRPr>
            </a:pPr>
            <a:r>
              <a:t>Current Needs &amp; Confirmations (The Asks)</a:t>
            </a:r>
          </a:p>
          <a:p>
            <a:pPr>
              <a:spcBef>
                <a:spcPts val="300"/>
              </a:spcBef>
              <a:defRPr sz="1150">
                <a:solidFill>
                  <a:srgbClr val="475569"/>
                </a:solidFill>
                <a:latin typeface="Segoe UI"/>
              </a:defRPr>
            </a:pPr>
            <a:r>
              <a:t>Key inputs required from the robotics team to proceed smoothly into Phase 2.</a:t>
            </a:r>
          </a:p>
        </p:txBody>
      </p:sp>
      <p:sp>
        <p:nvSpPr>
          <p:cNvPr id="5" name="Rounded Rectangle 4"/>
          <p:cNvSpPr/>
          <p:nvPr/>
        </p:nvSpPr>
        <p:spPr>
          <a:xfrm>
            <a:off x="822960" y="1691640"/>
            <a:ext cx="3291840" cy="4709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920240"/>
            <a:ext cx="2834640" cy="4114800"/>
          </a:xfrm>
          <a:prstGeom prst="rect">
            <a:avLst/>
          </a:prstGeom>
          <a:noFill/>
        </p:spPr>
        <p:txBody>
          <a:bodyPr wrap="square">
            <a:spAutoFit/>
          </a:bodyPr>
          <a:lstStyle/>
          <a:p>
            <a:pPr>
              <a:defRPr sz="1200" b="1">
                <a:solidFill>
                  <a:srgbClr val="D97706"/>
                </a:solidFill>
                <a:latin typeface="Segoe UI"/>
              </a:defRPr>
            </a:pPr>
            <a:r>
              <a:t>1. Real Site Photos / Rosbag</a:t>
            </a:r>
          </a:p>
          <a:p>
            <a:pPr>
              <a:spcBef>
                <a:spcPts val="600"/>
              </a:spcBef>
              <a:defRPr sz="1600" b="1">
                <a:solidFill>
                  <a:srgbClr val="0F172A"/>
                </a:solidFill>
                <a:latin typeface="Segoe UI"/>
              </a:defRPr>
            </a:pPr>
            <a:r>
              <a:t>Data for Calibration</a:t>
            </a:r>
          </a:p>
          <a:p>
            <a:pPr>
              <a:spcBef>
                <a:spcPts val="1400"/>
              </a:spcBef>
              <a:defRPr sz="1100">
                <a:solidFill>
                  <a:srgbClr val="475569"/>
                </a:solidFill>
                <a:latin typeface="Segoe UI"/>
              </a:defRPr>
            </a:pPr>
            <a:r>
              <a:t>A small sample of real site footage (or 10-15 phone photos of your actual equipment on site). This allows us to tune cosine similarity thresholds and calibrate detection for actual dust, shadows, and lighting.</a:t>
            </a:r>
          </a:p>
          <a:p>
            <a:pPr>
              <a:spcBef>
                <a:spcPts val="2000"/>
              </a:spcBef>
              <a:defRPr sz="1000" b="1">
                <a:solidFill>
                  <a:srgbClr val="D97706"/>
                </a:solidFill>
                <a:latin typeface="Segoe UI"/>
              </a:defRPr>
            </a:pPr>
            <a:r>
              <a:t>Status: Pending Team Input</a:t>
            </a:r>
          </a:p>
        </p:txBody>
      </p:sp>
      <p:sp>
        <p:nvSpPr>
          <p:cNvPr id="7" name="Rounded Rectangle 6"/>
          <p:cNvSpPr/>
          <p:nvPr/>
        </p:nvSpPr>
        <p:spPr>
          <a:xfrm>
            <a:off x="4443984" y="1691640"/>
            <a:ext cx="3291840" cy="4709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72584" y="1920240"/>
            <a:ext cx="2834640" cy="4114800"/>
          </a:xfrm>
          <a:prstGeom prst="rect">
            <a:avLst/>
          </a:prstGeom>
          <a:noFill/>
        </p:spPr>
        <p:txBody>
          <a:bodyPr wrap="square">
            <a:spAutoFit/>
          </a:bodyPr>
          <a:lstStyle/>
          <a:p>
            <a:pPr>
              <a:defRPr sz="1200" b="1">
                <a:solidFill>
                  <a:srgbClr val="2563EB"/>
                </a:solidFill>
                <a:latin typeface="Segoe UI"/>
              </a:defRPr>
            </a:pPr>
            <a:r>
              <a:t>2. ROS2 Topic Specifications</a:t>
            </a:r>
          </a:p>
          <a:p>
            <a:pPr>
              <a:spcBef>
                <a:spcPts val="600"/>
              </a:spcBef>
              <a:defRPr sz="1600" b="1">
                <a:solidFill>
                  <a:srgbClr val="0F172A"/>
                </a:solidFill>
                <a:latin typeface="Segoe UI"/>
              </a:defRPr>
            </a:pPr>
            <a:r>
              <a:t>Interface Alignment</a:t>
            </a:r>
          </a:p>
          <a:p>
            <a:pPr>
              <a:spcBef>
                <a:spcPts val="1400"/>
              </a:spcBef>
              <a:defRPr sz="1100">
                <a:solidFill>
                  <a:srgbClr val="475569"/>
                </a:solidFill>
                <a:latin typeface="Segoe UI"/>
              </a:defRPr>
            </a:pPr>
            <a:r>
              <a:t>Confirm your robot's ROS2 naming conventions (e.g. `/camera/color/image_raw`, `/patrol/robot_pose`) and preferred alert topic schema so our ROS2 wrapper publishes exactly what navigation expects.</a:t>
            </a:r>
          </a:p>
          <a:p>
            <a:pPr>
              <a:spcBef>
                <a:spcPts val="2000"/>
              </a:spcBef>
              <a:defRPr sz="1000" b="1">
                <a:solidFill>
                  <a:srgbClr val="2563EB"/>
                </a:solidFill>
                <a:latin typeface="Segoe UI"/>
              </a:defRPr>
            </a:pPr>
            <a:r>
              <a:t>Status: Pending Team Input</a:t>
            </a:r>
          </a:p>
        </p:txBody>
      </p:sp>
      <p:sp>
        <p:nvSpPr>
          <p:cNvPr id="9" name="Rounded Rectangle 8"/>
          <p:cNvSpPr/>
          <p:nvPr/>
        </p:nvSpPr>
        <p:spPr>
          <a:xfrm>
            <a:off x="8065008" y="1691640"/>
            <a:ext cx="3291840" cy="4709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93608" y="1920240"/>
            <a:ext cx="2834640" cy="4114800"/>
          </a:xfrm>
          <a:prstGeom prst="rect">
            <a:avLst/>
          </a:prstGeom>
          <a:noFill/>
        </p:spPr>
        <p:txBody>
          <a:bodyPr wrap="square">
            <a:spAutoFit/>
          </a:bodyPr>
          <a:lstStyle/>
          <a:p>
            <a:pPr>
              <a:defRPr sz="1200" b="1">
                <a:solidFill>
                  <a:srgbClr val="10B981"/>
                </a:solidFill>
                <a:latin typeface="Segoe UI"/>
              </a:defRPr>
            </a:pPr>
            <a:r>
              <a:t>3. Milestone 1 Sign-Off</a:t>
            </a:r>
          </a:p>
          <a:p>
            <a:pPr>
              <a:spcBef>
                <a:spcPts val="600"/>
              </a:spcBef>
              <a:defRPr sz="1600" b="1">
                <a:solidFill>
                  <a:srgbClr val="0F172A"/>
                </a:solidFill>
                <a:latin typeface="Segoe UI"/>
              </a:defRPr>
            </a:pPr>
            <a:r>
              <a:t>Progress Confirmation</a:t>
            </a:r>
          </a:p>
          <a:p>
            <a:pPr>
              <a:spcBef>
                <a:spcPts val="1400"/>
              </a:spcBef>
              <a:defRPr sz="1100">
                <a:solidFill>
                  <a:srgbClr val="475569"/>
                </a:solidFill>
                <a:latin typeface="Segoe UI"/>
              </a:defRPr>
            </a:pPr>
            <a:r>
              <a:t>Formal review and sign-off for the completed Core Perception Engine (detection, Re-ID, reference store, and 77 passing unit tests) to release the Milestone 1 deliverable.</a:t>
            </a:r>
          </a:p>
          <a:p>
            <a:pPr>
              <a:spcBef>
                <a:spcPts val="2000"/>
              </a:spcBef>
              <a:defRPr sz="1000" b="1">
                <a:solidFill>
                  <a:srgbClr val="10B981"/>
                </a:solidFill>
                <a:latin typeface="Segoe UI"/>
              </a:defRPr>
            </a:pPr>
            <a:r>
              <a:t>Status: Pending Team Input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411480"/>
            <a:ext cx="23774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Segoe UI"/>
              </a:defRPr>
            </a:pPr>
            <a:r>
              <a:t>ROADMAP</a:t>
            </a:r>
          </a:p>
        </p:txBody>
      </p:sp>
      <p:sp>
        <p:nvSpPr>
          <p:cNvPr id="4" name="TextBox 3"/>
          <p:cNvSpPr txBox="1"/>
          <p:nvPr/>
        </p:nvSpPr>
        <p:spPr>
          <a:xfrm>
            <a:off x="822960" y="777240"/>
            <a:ext cx="10515600" cy="822960"/>
          </a:xfrm>
          <a:prstGeom prst="rect">
            <a:avLst/>
          </a:prstGeom>
          <a:noFill/>
        </p:spPr>
        <p:txBody>
          <a:bodyPr wrap="square" lIns="0" rIns="0" tIns="0" bIns="0">
            <a:spAutoFit/>
          </a:bodyPr>
          <a:lstStyle/>
          <a:p>
            <a:pPr>
              <a:defRPr sz="2300" b="1">
                <a:solidFill>
                  <a:srgbClr val="0F172A"/>
                </a:solidFill>
                <a:latin typeface="Segoe UI"/>
              </a:defRPr>
            </a:pPr>
            <a:r>
              <a:t>Next Steps &amp; Phase 2 Roadmap</a:t>
            </a:r>
          </a:p>
          <a:p>
            <a:pPr>
              <a:spcBef>
                <a:spcPts val="300"/>
              </a:spcBef>
              <a:defRPr sz="1150">
                <a:solidFill>
                  <a:srgbClr val="475569"/>
                </a:solidFill>
                <a:latin typeface="Segoe UI"/>
              </a:defRPr>
            </a:pPr>
            <a:r>
              <a:t>Target deliverables for the upcoming development cycle.</a:t>
            </a:r>
          </a:p>
        </p:txBody>
      </p:sp>
      <p:sp>
        <p:nvSpPr>
          <p:cNvPr id="5" name="Rounded Rectangle 4"/>
          <p:cNvSpPr/>
          <p:nvPr/>
        </p:nvSpPr>
        <p:spPr>
          <a:xfrm>
            <a:off x="822960" y="1691640"/>
            <a:ext cx="5120640" cy="4709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74519"/>
            <a:ext cx="4572000" cy="4297680"/>
          </a:xfrm>
          <a:prstGeom prst="rect">
            <a:avLst/>
          </a:prstGeom>
          <a:noFill/>
        </p:spPr>
        <p:txBody>
          <a:bodyPr wrap="square">
            <a:spAutoFit/>
          </a:bodyPr>
          <a:lstStyle/>
          <a:p>
            <a:pPr>
              <a:defRPr sz="1500" b="1">
                <a:solidFill>
                  <a:srgbClr val="2563EB"/>
                </a:solidFill>
                <a:latin typeface="Segoe UI"/>
              </a:defRPr>
            </a:pPr>
            <a:r>
              <a:t>Upcoming Engineering Tasks (Week 2)</a:t>
            </a:r>
          </a:p>
          <a:p>
            <a:pPr>
              <a:spcBef>
                <a:spcPts val="800"/>
              </a:spcBef>
              <a:defRPr sz="1050" b="1">
                <a:solidFill>
                  <a:srgbClr val="0F172A"/>
                </a:solidFill>
                <a:latin typeface="Segoe UI"/>
              </a:defRPr>
            </a:pPr>
            <a:r>
              <a:t>• ROS2 Node Wrapper: </a:t>
            </a:r>
            <a:r>
              <a:rPr b="0">
                <a:solidFill>
                  <a:srgbClr val="475569"/>
                </a:solidFill>
              </a:rPr>
              <a:t>Package the perception engine into `site_asset_monitor_node` with standard ROS2 publishers and subscribers.</a:t>
            </a:r>
          </a:p>
          <a:p>
            <a:pPr>
              <a:spcBef>
                <a:spcPts val="800"/>
              </a:spcBef>
              <a:defRPr sz="1050" b="1">
                <a:solidFill>
                  <a:srgbClr val="0F172A"/>
                </a:solidFill>
                <a:latin typeface="Segoe UI"/>
              </a:defRPr>
            </a:pPr>
            <a:r>
              <a:t>• Movement &amp; Dwell Tracking: </a:t>
            </a:r>
            <a:r>
              <a:rPr b="0">
                <a:solidFill>
                  <a:srgbClr val="475569"/>
                </a:solidFill>
              </a:rPr>
              <a:t>Integrate temporal tracking to identify whether equipment is moving or stationary across patrol passes.</a:t>
            </a:r>
          </a:p>
          <a:p>
            <a:pPr>
              <a:spcBef>
                <a:spcPts val="800"/>
              </a:spcBef>
              <a:defRPr sz="1050" b="1">
                <a:solidFill>
                  <a:srgbClr val="0F172A"/>
                </a:solidFill>
                <a:latin typeface="Segoe UI"/>
              </a:defRPr>
            </a:pPr>
            <a:r>
              <a:t>• ONNX Runtime Optimization: </a:t>
            </a:r>
            <a:r>
              <a:rPr b="0">
                <a:solidFill>
                  <a:srgbClr val="475569"/>
                </a:solidFill>
              </a:rPr>
              <a:t>Export OSNet and YOLO to ONNX with INT8/FP16 quantization for low-latency inference on the robot compute.</a:t>
            </a:r>
          </a:p>
          <a:p>
            <a:pPr>
              <a:spcBef>
                <a:spcPts val="800"/>
              </a:spcBef>
              <a:defRPr sz="1050" b="1">
                <a:solidFill>
                  <a:srgbClr val="0F172A"/>
                </a:solidFill>
                <a:latin typeface="Segoe UI"/>
              </a:defRPr>
            </a:pPr>
            <a:r>
              <a:t>• Live Orbbec Stream Testing: </a:t>
            </a:r>
            <a:r>
              <a:rPr b="0">
                <a:solidFill>
                  <a:srgbClr val="475569"/>
                </a:solidFill>
              </a:rPr>
              <a:t>Validate image intake directly with the Orbbec ROS2 driver as soon as hardware is available.</a:t>
            </a:r>
          </a:p>
        </p:txBody>
      </p:sp>
      <p:sp>
        <p:nvSpPr>
          <p:cNvPr id="7" name="Rounded Rectangle 6"/>
          <p:cNvSpPr/>
          <p:nvPr/>
        </p:nvSpPr>
        <p:spPr>
          <a:xfrm>
            <a:off x="6217920" y="1691640"/>
            <a:ext cx="5150815" cy="4709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74519"/>
            <a:ext cx="4572000" cy="4297680"/>
          </a:xfrm>
          <a:prstGeom prst="rect">
            <a:avLst/>
          </a:prstGeom>
          <a:noFill/>
        </p:spPr>
        <p:txBody>
          <a:bodyPr wrap="square">
            <a:spAutoFit/>
          </a:bodyPr>
          <a:lstStyle/>
          <a:p>
            <a:pPr>
              <a:defRPr sz="1500" b="1">
                <a:solidFill>
                  <a:srgbClr val="10B981"/>
                </a:solidFill>
                <a:latin typeface="Segoe UI"/>
              </a:defRPr>
            </a:pPr>
            <a:r>
              <a:t>Summary &amp; Open Discussion</a:t>
            </a:r>
          </a:p>
          <a:p>
            <a:pPr>
              <a:spcBef>
                <a:spcPts val="1200"/>
              </a:spcBef>
              <a:defRPr sz="1100">
                <a:solidFill>
                  <a:srgbClr val="0F172A"/>
                </a:solidFill>
                <a:latin typeface="Segoe UI"/>
              </a:defRPr>
            </a:pPr>
            <a:r>
              <a:t>✔ Milestone 1 is ready, verified, and backed by 77 automated tests.</a:t>
            </a:r>
          </a:p>
          <a:p>
            <a:pPr>
              <a:spcBef>
                <a:spcPts val="1200"/>
              </a:spcBef>
              <a:defRPr sz="1100">
                <a:solidFill>
                  <a:srgbClr val="0F172A"/>
                </a:solidFill>
                <a:latin typeface="Segoe UI"/>
              </a:defRPr>
            </a:pPr>
            <a:r>
              <a:t>✔ System operation flow (Phase 1 Enrollment vs Phase 2 Patrol) is clearly defined.</a:t>
            </a:r>
          </a:p>
          <a:p>
            <a:pPr>
              <a:spcBef>
                <a:spcPts val="1200"/>
              </a:spcBef>
              <a:defRPr sz="1100">
                <a:solidFill>
                  <a:srgbClr val="0F172A"/>
                </a:solidFill>
                <a:latin typeface="Segoe UI"/>
              </a:defRPr>
            </a:pPr>
            <a:r>
              <a:t>✔ Camera choice (Orbbec Gemini 2 XL PoE) is validated and ready for integration.</a:t>
            </a:r>
          </a:p>
          <a:p>
            <a:pPr>
              <a:spcBef>
                <a:spcPts val="1200"/>
              </a:spcBef>
              <a:defRPr sz="1100">
                <a:solidFill>
                  <a:srgbClr val="0F172A"/>
                </a:solidFill>
                <a:latin typeface="Segoe UI"/>
              </a:defRPr>
            </a:pPr>
            <a:r>
              <a:t>✔ Clear path forward for ROS2 packaging and robot deployment.</a:t>
            </a:r>
          </a:p>
          <a:p>
            <a:pPr>
              <a:spcBef>
                <a:spcPts val="1200"/>
              </a:spcBef>
              <a:defRPr sz="1100">
                <a:solidFill>
                  <a:srgbClr val="0F172A"/>
                </a:solidFill>
                <a:latin typeface="Segoe UI"/>
              </a:defRPr>
            </a:pPr>
            <a:r>
              <a:t>✔ Questions &amp; Feedback: Let's discuss data availability, timeline, and next milestones.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